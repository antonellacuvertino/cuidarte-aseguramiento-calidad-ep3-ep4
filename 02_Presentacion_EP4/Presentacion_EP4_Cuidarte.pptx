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orientativa: 30 segundos.</a:t>
            </a:r>
          </a:p>
          <a:p/>
          <a:p>
            <a:r>
              <a:t>Soy Antonella Cuvertino y presentaré el aseguramiento de calidad de Cuidarte+, una plataforma de información clínica. El objetivo fue contrastar requisitos con evidencia funcional, de seguridad y de calidad. Nuestra conclusión es no certificar el despliegue productivo en el estado evaluado. Mostraré los casos, los resultados y el fundamento de esta decisión.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orientativa: 40 segundos.</a:t>
            </a:r>
          </a:p>
          <a:p/>
          <a:p>
            <a:r>
              <a:t>El sistema tiene una interfaz React, una API Express y PostgreSQL. Administradores gestionan usuarios, médicos registran información y pacientes consultan sus resultados. El dato de salud es sensible: un error de autorización tiene consecuencias diferentes de un error visual. Por eso priorizamos confidencialidad e integridad, además de disponibilidad. La prueba se realizó con datos sintéticos en una base separada.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orientativa: 50 segundos.</a:t>
            </a:r>
          </a:p>
          <a:p/>
          <a:p>
            <a:r>
              <a:t>Elegimos un enfoque mixto y basado en riesgos. Desde la planificación incorporamos actores, permisos y consecuencias sobre datos clínicos. Priorizamos autorización y contraseñas; después integridad de registros y desempeño. La entrada exige casos definidos y un entorno aislado. La salida exige resolver todos los defectos críticos y graves y completar el alcance. No confundimos tener herramientas instaladas con haber demostrado sus criterios.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orientativa: 65 segundos.</a:t>
            </a:r>
          </a:p>
          <a:p/>
          <a:p>
            <a:r>
              <a:t>Cada tipo responde una pregunta diferente. La prueba funcional verifica si el login acepta o rechaza las credenciales previstas. La integración verifica que la operación persista correctamente y que el documento descargado conserve sus bytes. La seguridad cambia el actor o el recurso: por ejemplo, el paciente B intenta consultar un examen de A, y un médico intenta cambiarse a administrador. La prueba de rendimiento mide tiempo bajo condiciones conocidas. Un HTTP 200 no basta para aprobar: necesitamos comprobar el efecto y compararlo con el criterio.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orientativa: 65 segundos.</a:t>
            </a:r>
          </a:p>
          <a:p/>
          <a:p>
            <a:r>
              <a:t>El plan contiene ocho casos maestros con precondiciones, pasos, datos, resultado esperado y aceptación. Para esta ejecución automatizamos doce comprobaciones derivadas; no afirmamos que las doce equivalgan a ejecutar integralmente los ocho casos. Un ejemplo trazable es RF-3.3, borrado lógico: el caso maestro exige conservar la fila. El checkpoint ejecuta DELETE y luego consulta la base. La fila desaparece, por lo que registramos FAIL y DEF-003. La trazabilidad conecta una expectativa concreta con una observación y una decisión, sin inventar cobertura total de una ERS que no recibimos.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orientativa: 50 segundos.</a:t>
            </a:r>
          </a:p>
          <a:p/>
          <a:p>
            <a:r>
              <a:t>Usamos Node.js para enviar peticiones reproducibles y consultar PostgreSQL, de modo que el resultado no dependa solo de la pantalla. Docker permitió aislar la base. SonarQube analiza el código y genera hallazgos de calidad y seguridad que requieren interpretación. El navegador aporta capturas, pero no sustituye las aserciones. La carga breve se ejecutó con solicitudes paralelas, no con JMeter. Tampoco afirmamos haber ejecutado DAST o generado cobertura LCOV: esas ampliaciones están documentadas como pendientes.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orientativa: 60 segundos.</a:t>
            </a:r>
          </a:p>
          <a:p/>
          <a:p>
            <a:r>
              <a:t>En la suite de API se ejecutaron doce comprobaciones: seis pasaron y seis fallaron. Pasaron el login y su rechazo, validaciones, las rutas IDOR probadas, tokens inválidos y transferencia de PDF. Fallaron seis criterios de integridad, protección y permisos. Cada fila incluye esperado, obtenido y evidencia con fecha. La ejecución fue automatizada con asistencia y debemos poder explicar sus pasos. Los cinco PASS visuales del documento anterior se conservan como históricos; no se suman a estas doce ejecuciones ni prueban seguridad global.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orientativa: 70 segundos.</a:t>
            </a:r>
          </a:p>
          <a:p/>
          <a:p>
            <a:r>
              <a:t>Clasificamos como crítico el escalamiento de privilegios porque un médico logra asignarse administrador y la base confirma el nuevo rol. También es crítico eliminar una cuenta sin autenticación: el endpoint devuelve 200 y la fila desaparece. Son comprobaciones con cuentas sintéticas. Los otros cuatro defectos son graves: contraseña en texto claro, eliminación física del examen, auditoría sin IP y demora excesiva. No se corrigió código durante la actividad; eso conserva la evidencia del estado evaluado. La severidad proviene del impacto en un sistema clínico y no de una multa supuesta.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orientativa: 55 segundos.</a:t>
            </a:r>
          </a:p>
          <a:p/>
          <a:p>
            <a:r>
              <a:t>Estos son los valores de la exportación real de SonarQube y su Quality Gate. Los bugs apuntan a fiabilidad, los code smells a mantenibilidad y los hotspots requieren revisión contextual. Un hotspot no se declara automáticamente una vulnerabilidad. No generamos un reporte LCOV, por lo que la cobertura no demuestra pruebas instrumentadas. Además contrastamos el texto del encargo: el controlador citado para SQLi no existe y las consultas observadas usan parámetros. Reportamos solo lo que consta en el código y en las evidencias, incluso si el analizador no detecta una falla que sí confirma la API.</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orientativa: 40 segundos.</a:t>
            </a:r>
          </a:p>
          <a:p/>
          <a:p>
            <a:r>
              <a:t>El lote de 200 solicitudes terminó sin errores HTTP, pero su p95 superó ampliamente 300 milisegundos; no certifica estabilidad prolongada. En privacidad distinguimos el régimen vigente de la Ley 19.628 y la preparación para la Ley 21.719, cuya vigencia general comienza el primero de diciembre de 2026. La aplicación de la Ley 21.663 depende del sujeto y actividad. No atribuimos una multa automática por faltar una IP ni afirmamos certificación legal integral.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orientativa: 40 segundos.</a:t>
            </a:r>
          </a:p>
          <a:p/>
          <a:p>
            <a:r>
              <a:t>Las recomendaciones siguen los hallazgos. Primero debemos cerrar acciones anónimas y escalamiento de rol, con autorización del servidor antes de modificar datos. Después proteger contraseñas, conservar registros y hacer consistente la auditoría. Retiramos las demoras del entorno objetivo y medimos de nuevo. Cada corrección debe acompañarse de un retest y pruebas negativas, además de regresión. Es una decisión ética proteger al paciente y comunicar con precisión lo que falta, en lugar de declarar seguro un sistema por una pantalla que funciona.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orientativa: 35 segundos.</a:t>
            </a:r>
          </a:p>
          <a:p/>
          <a:p>
            <a:r>
              <a:t>La conclusión es no certificado para producción. Tenemos dos defectos críticos y cuatro graves abiertos, por lo que no se cumple la salida definida. El expediente entrega los casos, los resultados, los defectos y las recomendaciones para que otro equipo pueda reproducirlos. La certificación podrá reevaluarse con evidencia de corrección y un alcance completo. Esta conclusión es técnica y académica, y protege el tratamiento responsable de información clínica.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E2D"/>
        </a:solidFill>
        <a:effectLst/>
      </p:bgPr>
    </p:bg>
    <p:spTree>
      <p:nvGrpSpPr>
        <p:cNvPr id="1" name=""/>
        <p:cNvGrpSpPr/>
        <p:nvPr/>
      </p:nvGrpSpPr>
      <p:grpSpPr/>
      <p:sp>
        <p:nvSpPr>
          <p:cNvPr id="2" name="Rectangle 1"/>
          <p:cNvSpPr/>
          <p:nvPr/>
        </p:nvSpPr>
        <p:spPr>
          <a:xfrm>
            <a:off x="502920" y="475488"/>
            <a:ext cx="118872" cy="365760"/>
          </a:xfrm>
          <a:prstGeom prst="rect">
            <a:avLst/>
          </a:prstGeom>
          <a:solidFill>
            <a:srgbClr val="40D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12064"/>
            <a:ext cx="10058400" cy="274320"/>
          </a:xfrm>
          <a:prstGeom prst="rect">
            <a:avLst/>
          </a:prstGeom>
          <a:noFill/>
        </p:spPr>
        <p:txBody>
          <a:bodyPr wrap="square" lIns="0" rIns="0">
            <a:spAutoFit/>
          </a:bodyPr>
          <a:lstStyle/>
          <a:p>
            <a:pPr>
              <a:spcAft>
                <a:spcPts val="1000"/>
              </a:spcAft>
              <a:defRPr sz="1200" b="1">
                <a:solidFill>
                  <a:srgbClr val="40D9B1"/>
                </a:solidFill>
                <a:latin typeface="Aptos"/>
              </a:defRPr>
            </a:pPr>
            <a:r>
              <a:t>CUIDARTE+ / ASEGURAMIENTO DE CALIDAD</a:t>
            </a:r>
          </a:p>
        </p:txBody>
      </p:sp>
      <p:sp>
        <p:nvSpPr>
          <p:cNvPr id="4" name="TextBox 3"/>
          <p:cNvSpPr txBox="1"/>
          <p:nvPr/>
        </p:nvSpPr>
        <p:spPr>
          <a:xfrm>
            <a:off x="731520" y="1051560"/>
            <a:ext cx="10789920" cy="777240"/>
          </a:xfrm>
          <a:prstGeom prst="rect">
            <a:avLst/>
          </a:prstGeom>
          <a:noFill/>
        </p:spPr>
        <p:txBody>
          <a:bodyPr wrap="square" lIns="0" rIns="0">
            <a:spAutoFit/>
          </a:bodyPr>
          <a:lstStyle/>
          <a:p>
            <a:pPr>
              <a:spcAft>
                <a:spcPts val="1000"/>
              </a:spcAft>
              <a:defRPr sz="3400" b="1">
                <a:solidFill>
                  <a:srgbClr val="F3F7FA"/>
                </a:solidFill>
                <a:latin typeface="Aptos"/>
              </a:defRPr>
            </a:pPr>
            <a:r>
              <a:t>Cuidarte+</a:t>
            </a:r>
          </a:p>
        </p:txBody>
      </p:sp>
      <p:sp>
        <p:nvSpPr>
          <p:cNvPr id="5" name="TextBox 4"/>
          <p:cNvSpPr txBox="1"/>
          <p:nvPr/>
        </p:nvSpPr>
        <p:spPr>
          <a:xfrm>
            <a:off x="731520" y="1874519"/>
            <a:ext cx="10515600" cy="457200"/>
          </a:xfrm>
          <a:prstGeom prst="rect">
            <a:avLst/>
          </a:prstGeom>
          <a:noFill/>
        </p:spPr>
        <p:txBody>
          <a:bodyPr wrap="square" lIns="0" rIns="0">
            <a:spAutoFit/>
          </a:bodyPr>
          <a:lstStyle/>
          <a:p>
            <a:pPr>
              <a:spcAft>
                <a:spcPts val="1000"/>
              </a:spcAft>
              <a:defRPr sz="1700" b="0">
                <a:solidFill>
                  <a:srgbClr val="A8C1CF"/>
                </a:solidFill>
                <a:latin typeface="Aptos"/>
              </a:defRPr>
            </a:pPr>
            <a:r>
              <a:t>Aseguramiento de calidad, seguridad y cumplimiento</a:t>
            </a:r>
          </a:p>
        </p:txBody>
      </p:sp>
      <p:sp>
        <p:nvSpPr>
          <p:cNvPr id="6" name="Rectangle 5"/>
          <p:cNvSpPr/>
          <p:nvPr/>
        </p:nvSpPr>
        <p:spPr>
          <a:xfrm>
            <a:off x="777240" y="2807208"/>
            <a:ext cx="82296" cy="82296"/>
          </a:xfrm>
          <a:prstGeom prst="rect">
            <a:avLst/>
          </a:prstGeom>
          <a:solidFill>
            <a:srgbClr val="40D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24128" y="2697480"/>
            <a:ext cx="10241280" cy="594360"/>
          </a:xfrm>
          <a:prstGeom prst="rect">
            <a:avLst/>
          </a:prstGeom>
          <a:noFill/>
        </p:spPr>
        <p:txBody>
          <a:bodyPr wrap="square" lIns="0" rIns="0">
            <a:spAutoFit/>
          </a:bodyPr>
          <a:lstStyle/>
          <a:p>
            <a:pPr>
              <a:spcAft>
                <a:spcPts val="1000"/>
              </a:spcAft>
              <a:defRPr sz="2100" b="0">
                <a:solidFill>
                  <a:srgbClr val="F3F7FA"/>
                </a:solidFill>
                <a:latin typeface="Aptos"/>
              </a:defRPr>
            </a:pPr>
            <a:r>
              <a:t>EP4 · Defensa individual · ISY1102 · Sección 002v</a:t>
            </a:r>
          </a:p>
        </p:txBody>
      </p:sp>
      <p:sp>
        <p:nvSpPr>
          <p:cNvPr id="8" name="Rectangle 7"/>
          <p:cNvSpPr/>
          <p:nvPr/>
        </p:nvSpPr>
        <p:spPr>
          <a:xfrm>
            <a:off x="777240" y="3465576"/>
            <a:ext cx="82296" cy="82296"/>
          </a:xfrm>
          <a:prstGeom prst="rect">
            <a:avLst/>
          </a:prstGeom>
          <a:solidFill>
            <a:srgbClr val="40D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3355848"/>
            <a:ext cx="10241280" cy="594360"/>
          </a:xfrm>
          <a:prstGeom prst="rect">
            <a:avLst/>
          </a:prstGeom>
          <a:noFill/>
        </p:spPr>
        <p:txBody>
          <a:bodyPr wrap="square" lIns="0" rIns="0">
            <a:spAutoFit/>
          </a:bodyPr>
          <a:lstStyle/>
          <a:p>
            <a:pPr>
              <a:spcAft>
                <a:spcPts val="1000"/>
              </a:spcAft>
              <a:defRPr sz="2100" b="0">
                <a:solidFill>
                  <a:srgbClr val="F3F7FA"/>
                </a:solidFill>
                <a:latin typeface="Aptos"/>
              </a:defRPr>
            </a:pPr>
            <a:r>
              <a:t>Antonella Cuvertino y Miriam Hammami</a:t>
            </a:r>
          </a:p>
        </p:txBody>
      </p:sp>
      <p:sp>
        <p:nvSpPr>
          <p:cNvPr id="10" name="Rectangle 9"/>
          <p:cNvSpPr/>
          <p:nvPr/>
        </p:nvSpPr>
        <p:spPr>
          <a:xfrm>
            <a:off x="777240" y="4123944"/>
            <a:ext cx="82296" cy="82296"/>
          </a:xfrm>
          <a:prstGeom prst="rect">
            <a:avLst/>
          </a:prstGeom>
          <a:solidFill>
            <a:srgbClr val="40D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4128" y="4014216"/>
            <a:ext cx="10241280" cy="594360"/>
          </a:xfrm>
          <a:prstGeom prst="rect">
            <a:avLst/>
          </a:prstGeom>
          <a:noFill/>
        </p:spPr>
        <p:txBody>
          <a:bodyPr wrap="square" lIns="0" rIns="0">
            <a:spAutoFit/>
          </a:bodyPr>
          <a:lstStyle/>
          <a:p>
            <a:pPr>
              <a:spcAft>
                <a:spcPts val="1000"/>
              </a:spcAft>
              <a:defRPr sz="2100" b="0">
                <a:solidFill>
                  <a:srgbClr val="F3F7FA"/>
                </a:solidFill>
                <a:latin typeface="Aptos"/>
              </a:defRPr>
            </a:pPr>
            <a:r>
              <a:t>Decisión sustentada: NO CERTIFICADO para producción</a:t>
            </a:r>
          </a:p>
        </p:txBody>
      </p:sp>
      <p:sp>
        <p:nvSpPr>
          <p:cNvPr id="12" name="Rectangle 11"/>
          <p:cNvSpPr/>
          <p:nvPr/>
        </p:nvSpPr>
        <p:spPr>
          <a:xfrm>
            <a:off x="731520" y="6236208"/>
            <a:ext cx="10698480" cy="13716"/>
          </a:xfrm>
          <a:prstGeom prst="rect">
            <a:avLst/>
          </a:prstGeom>
          <a:solidFill>
            <a:srgbClr val="294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6382512"/>
            <a:ext cx="9144000" cy="228600"/>
          </a:xfrm>
          <a:prstGeom prst="rect">
            <a:avLst/>
          </a:prstGeom>
          <a:noFill/>
        </p:spPr>
        <p:txBody>
          <a:bodyPr wrap="square" lIns="0" rIns="0">
            <a:spAutoFit/>
          </a:bodyPr>
          <a:lstStyle/>
          <a:p>
            <a:pPr>
              <a:spcAft>
                <a:spcPts val="1000"/>
              </a:spcAft>
              <a:defRPr sz="1000" b="0">
                <a:solidFill>
                  <a:srgbClr val="A8C1CF"/>
                </a:solidFill>
                <a:latin typeface="Aptos"/>
              </a:defRPr>
            </a:pPr>
            <a:r>
              <a:t>ISY1102 · Duoc UC · 20 de octubre de 2026</a:t>
            </a:r>
          </a:p>
        </p:txBody>
      </p:sp>
      <p:sp>
        <p:nvSpPr>
          <p:cNvPr id="14" name="TextBox 13"/>
          <p:cNvSpPr txBox="1"/>
          <p:nvPr/>
        </p:nvSpPr>
        <p:spPr>
          <a:xfrm>
            <a:off x="10515600" y="6345936"/>
            <a:ext cx="914400" cy="274320"/>
          </a:xfrm>
          <a:prstGeom prst="rect">
            <a:avLst/>
          </a:prstGeom>
          <a:noFill/>
        </p:spPr>
        <p:txBody>
          <a:bodyPr wrap="square" lIns="0" rIns="0">
            <a:spAutoFit/>
          </a:bodyPr>
          <a:lstStyle/>
          <a:p>
            <a:pPr>
              <a:spcAft>
                <a:spcPts val="1000"/>
              </a:spcAft>
              <a:defRPr sz="1100" b="0">
                <a:solidFill>
                  <a:srgbClr val="40D9B1"/>
                </a:solidFill>
                <a:latin typeface="Aptos"/>
              </a:defRPr>
            </a:pPr>
            <a:r>
              <a:t>01 / 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E2D"/>
        </a:solidFill>
        <a:effectLst/>
      </p:bgPr>
    </p:bg>
    <p:spTree>
      <p:nvGrpSpPr>
        <p:cNvPr id="1" name=""/>
        <p:cNvGrpSpPr/>
        <p:nvPr/>
      </p:nvGrpSpPr>
      <p:grpSpPr/>
      <p:sp>
        <p:nvSpPr>
          <p:cNvPr id="2" name="Rectangle 1"/>
          <p:cNvSpPr/>
          <p:nvPr/>
        </p:nvSpPr>
        <p:spPr>
          <a:xfrm>
            <a:off x="502920" y="475488"/>
            <a:ext cx="118872" cy="365760"/>
          </a:xfrm>
          <a:prstGeom prst="rect">
            <a:avLst/>
          </a:prstGeom>
          <a:solidFill>
            <a:srgbClr val="40D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12064"/>
            <a:ext cx="10058400" cy="274320"/>
          </a:xfrm>
          <a:prstGeom prst="rect">
            <a:avLst/>
          </a:prstGeom>
          <a:noFill/>
        </p:spPr>
        <p:txBody>
          <a:bodyPr wrap="square" lIns="0" rIns="0">
            <a:spAutoFit/>
          </a:bodyPr>
          <a:lstStyle/>
          <a:p>
            <a:pPr>
              <a:spcAft>
                <a:spcPts val="1000"/>
              </a:spcAft>
              <a:defRPr sz="1200" b="1">
                <a:solidFill>
                  <a:srgbClr val="40D9B1"/>
                </a:solidFill>
                <a:latin typeface="Aptos"/>
              </a:defRPr>
            </a:pPr>
            <a:r>
              <a:t>CUIDARTE+ / ASEGURAMIENTO DE CALIDAD</a:t>
            </a:r>
          </a:p>
        </p:txBody>
      </p:sp>
      <p:sp>
        <p:nvSpPr>
          <p:cNvPr id="4" name="TextBox 3"/>
          <p:cNvSpPr txBox="1"/>
          <p:nvPr/>
        </p:nvSpPr>
        <p:spPr>
          <a:xfrm>
            <a:off x="731520" y="1051560"/>
            <a:ext cx="10789920" cy="777240"/>
          </a:xfrm>
          <a:prstGeom prst="rect">
            <a:avLst/>
          </a:prstGeom>
          <a:noFill/>
        </p:spPr>
        <p:txBody>
          <a:bodyPr wrap="square" lIns="0" rIns="0">
            <a:spAutoFit/>
          </a:bodyPr>
          <a:lstStyle/>
          <a:p>
            <a:pPr>
              <a:spcAft>
                <a:spcPts val="1000"/>
              </a:spcAft>
              <a:defRPr sz="3400" b="1">
                <a:solidFill>
                  <a:srgbClr val="F3F7FA"/>
                </a:solidFill>
                <a:latin typeface="Aptos"/>
              </a:defRPr>
            </a:pPr>
            <a:r>
              <a:t>Un sistema clínico exige más que funcionar</a:t>
            </a:r>
          </a:p>
        </p:txBody>
      </p:sp>
      <p:sp>
        <p:nvSpPr>
          <p:cNvPr id="5" name="TextBox 4"/>
          <p:cNvSpPr txBox="1"/>
          <p:nvPr/>
        </p:nvSpPr>
        <p:spPr>
          <a:xfrm>
            <a:off x="731520" y="1874519"/>
            <a:ext cx="10515600" cy="457200"/>
          </a:xfrm>
          <a:prstGeom prst="rect">
            <a:avLst/>
          </a:prstGeom>
          <a:noFill/>
        </p:spPr>
        <p:txBody>
          <a:bodyPr wrap="square" lIns="0" rIns="0">
            <a:spAutoFit/>
          </a:bodyPr>
          <a:lstStyle/>
          <a:p>
            <a:pPr>
              <a:spcAft>
                <a:spcPts val="1000"/>
              </a:spcAft>
              <a:defRPr sz="1700" b="0">
                <a:solidFill>
                  <a:srgbClr val="A8C1CF"/>
                </a:solidFill>
                <a:latin typeface="Aptos"/>
              </a:defRPr>
            </a:pPr>
            <a:r>
              <a:t>Contexto, arquitectura y riesgo</a:t>
            </a:r>
          </a:p>
        </p:txBody>
      </p:sp>
      <p:sp>
        <p:nvSpPr>
          <p:cNvPr id="6" name="Rectangle 5"/>
          <p:cNvSpPr/>
          <p:nvPr/>
        </p:nvSpPr>
        <p:spPr>
          <a:xfrm>
            <a:off x="777240" y="2807208"/>
            <a:ext cx="82296" cy="82296"/>
          </a:xfrm>
          <a:prstGeom prst="rect">
            <a:avLst/>
          </a:prstGeom>
          <a:solidFill>
            <a:srgbClr val="40D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24128" y="2697480"/>
            <a:ext cx="10241280" cy="594360"/>
          </a:xfrm>
          <a:prstGeom prst="rect">
            <a:avLst/>
          </a:prstGeom>
          <a:noFill/>
        </p:spPr>
        <p:txBody>
          <a:bodyPr wrap="square" lIns="0" rIns="0">
            <a:spAutoFit/>
          </a:bodyPr>
          <a:lstStyle/>
          <a:p>
            <a:pPr>
              <a:spcAft>
                <a:spcPts val="1000"/>
              </a:spcAft>
              <a:defRPr sz="2100" b="0">
                <a:solidFill>
                  <a:srgbClr val="F3F7FA"/>
                </a:solidFill>
                <a:latin typeface="Aptos"/>
              </a:defRPr>
            </a:pPr>
            <a:r>
              <a:t>React SPA → API Express → PostgreSQL</a:t>
            </a:r>
          </a:p>
        </p:txBody>
      </p:sp>
      <p:sp>
        <p:nvSpPr>
          <p:cNvPr id="8" name="Rectangle 7"/>
          <p:cNvSpPr/>
          <p:nvPr/>
        </p:nvSpPr>
        <p:spPr>
          <a:xfrm>
            <a:off x="777240" y="3465576"/>
            <a:ext cx="82296" cy="82296"/>
          </a:xfrm>
          <a:prstGeom prst="rect">
            <a:avLst/>
          </a:prstGeom>
          <a:solidFill>
            <a:srgbClr val="40D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3355848"/>
            <a:ext cx="10241280" cy="594360"/>
          </a:xfrm>
          <a:prstGeom prst="rect">
            <a:avLst/>
          </a:prstGeom>
          <a:noFill/>
        </p:spPr>
        <p:txBody>
          <a:bodyPr wrap="square" lIns="0" rIns="0">
            <a:spAutoFit/>
          </a:bodyPr>
          <a:lstStyle/>
          <a:p>
            <a:pPr>
              <a:spcAft>
                <a:spcPts val="1000"/>
              </a:spcAft>
              <a:defRPr sz="2100" b="0">
                <a:solidFill>
                  <a:srgbClr val="F3F7FA"/>
                </a:solidFill>
                <a:latin typeface="Aptos"/>
              </a:defRPr>
            </a:pPr>
            <a:r>
              <a:t>Administrador, médico y paciente; acceso anónimo limitado</a:t>
            </a:r>
          </a:p>
        </p:txBody>
      </p:sp>
      <p:sp>
        <p:nvSpPr>
          <p:cNvPr id="10" name="Rectangle 9"/>
          <p:cNvSpPr/>
          <p:nvPr/>
        </p:nvSpPr>
        <p:spPr>
          <a:xfrm>
            <a:off x="777240" y="4123944"/>
            <a:ext cx="82296" cy="82296"/>
          </a:xfrm>
          <a:prstGeom prst="rect">
            <a:avLst/>
          </a:prstGeom>
          <a:solidFill>
            <a:srgbClr val="40D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4128" y="4014216"/>
            <a:ext cx="10241280" cy="594360"/>
          </a:xfrm>
          <a:prstGeom prst="rect">
            <a:avLst/>
          </a:prstGeom>
          <a:noFill/>
        </p:spPr>
        <p:txBody>
          <a:bodyPr wrap="square" lIns="0" rIns="0">
            <a:spAutoFit/>
          </a:bodyPr>
          <a:lstStyle/>
          <a:p>
            <a:pPr>
              <a:spcAft>
                <a:spcPts val="1000"/>
              </a:spcAft>
              <a:defRPr sz="2100" b="0">
                <a:solidFill>
                  <a:srgbClr val="F3F7FA"/>
                </a:solidFill>
                <a:latin typeface="Aptos"/>
              </a:defRPr>
            </a:pPr>
            <a:r>
              <a:t>Prioridad: evitar exposición, privilegios indebidos y pérdida clínica</a:t>
            </a:r>
          </a:p>
        </p:txBody>
      </p:sp>
      <p:sp>
        <p:nvSpPr>
          <p:cNvPr id="12" name="Rectangle 11"/>
          <p:cNvSpPr/>
          <p:nvPr/>
        </p:nvSpPr>
        <p:spPr>
          <a:xfrm>
            <a:off x="731520" y="6236208"/>
            <a:ext cx="10698480" cy="13716"/>
          </a:xfrm>
          <a:prstGeom prst="rect">
            <a:avLst/>
          </a:prstGeom>
          <a:solidFill>
            <a:srgbClr val="294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6382512"/>
            <a:ext cx="9144000" cy="228600"/>
          </a:xfrm>
          <a:prstGeom prst="rect">
            <a:avLst/>
          </a:prstGeom>
          <a:noFill/>
        </p:spPr>
        <p:txBody>
          <a:bodyPr wrap="square" lIns="0" rIns="0">
            <a:spAutoFit/>
          </a:bodyPr>
          <a:lstStyle/>
          <a:p>
            <a:pPr>
              <a:spcAft>
                <a:spcPts val="1000"/>
              </a:spcAft>
              <a:defRPr sz="1000" b="0">
                <a:solidFill>
                  <a:srgbClr val="A8C1CF"/>
                </a:solidFill>
                <a:latin typeface="Aptos"/>
              </a:defRPr>
            </a:pPr>
            <a:r>
              <a:t>ISY1102 · Duoc UC · 20 de octubre de 2026</a:t>
            </a:r>
          </a:p>
        </p:txBody>
      </p:sp>
      <p:sp>
        <p:nvSpPr>
          <p:cNvPr id="14" name="TextBox 13"/>
          <p:cNvSpPr txBox="1"/>
          <p:nvPr/>
        </p:nvSpPr>
        <p:spPr>
          <a:xfrm>
            <a:off x="10515600" y="6345936"/>
            <a:ext cx="914400" cy="274320"/>
          </a:xfrm>
          <a:prstGeom prst="rect">
            <a:avLst/>
          </a:prstGeom>
          <a:noFill/>
        </p:spPr>
        <p:txBody>
          <a:bodyPr wrap="square" lIns="0" rIns="0">
            <a:spAutoFit/>
          </a:bodyPr>
          <a:lstStyle/>
          <a:p>
            <a:pPr>
              <a:spcAft>
                <a:spcPts val="1000"/>
              </a:spcAft>
              <a:defRPr sz="1100" b="0">
                <a:solidFill>
                  <a:srgbClr val="40D9B1"/>
                </a:solidFill>
                <a:latin typeface="Aptos"/>
              </a:defRPr>
            </a:pPr>
            <a:r>
              <a:t>02 / 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E2D"/>
        </a:solidFill>
        <a:effectLst/>
      </p:bgPr>
    </p:bg>
    <p:spTree>
      <p:nvGrpSpPr>
        <p:cNvPr id="1" name=""/>
        <p:cNvGrpSpPr/>
        <p:nvPr/>
      </p:nvGrpSpPr>
      <p:grpSpPr/>
      <p:sp>
        <p:nvSpPr>
          <p:cNvPr id="2" name="Rectangle 1"/>
          <p:cNvSpPr/>
          <p:nvPr/>
        </p:nvSpPr>
        <p:spPr>
          <a:xfrm>
            <a:off x="502920" y="475488"/>
            <a:ext cx="118872" cy="365760"/>
          </a:xfrm>
          <a:prstGeom prst="rect">
            <a:avLst/>
          </a:prstGeom>
          <a:solidFill>
            <a:srgbClr val="40D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12064"/>
            <a:ext cx="10058400" cy="274320"/>
          </a:xfrm>
          <a:prstGeom prst="rect">
            <a:avLst/>
          </a:prstGeom>
          <a:noFill/>
        </p:spPr>
        <p:txBody>
          <a:bodyPr wrap="square" lIns="0" rIns="0">
            <a:spAutoFit/>
          </a:bodyPr>
          <a:lstStyle/>
          <a:p>
            <a:pPr>
              <a:spcAft>
                <a:spcPts val="1000"/>
              </a:spcAft>
              <a:defRPr sz="1200" b="1">
                <a:solidFill>
                  <a:srgbClr val="40D9B1"/>
                </a:solidFill>
                <a:latin typeface="Aptos"/>
              </a:defRPr>
            </a:pPr>
            <a:r>
              <a:t>CUIDARTE+ / ASEGURAMIENTO DE CALIDAD</a:t>
            </a:r>
          </a:p>
        </p:txBody>
      </p:sp>
      <p:sp>
        <p:nvSpPr>
          <p:cNvPr id="4" name="TextBox 3"/>
          <p:cNvSpPr txBox="1"/>
          <p:nvPr/>
        </p:nvSpPr>
        <p:spPr>
          <a:xfrm>
            <a:off x="731520" y="1051560"/>
            <a:ext cx="10789920" cy="777240"/>
          </a:xfrm>
          <a:prstGeom prst="rect">
            <a:avLst/>
          </a:prstGeom>
          <a:noFill/>
        </p:spPr>
        <p:txBody>
          <a:bodyPr wrap="square" lIns="0" rIns="0">
            <a:spAutoFit/>
          </a:bodyPr>
          <a:lstStyle/>
          <a:p>
            <a:pPr>
              <a:spcAft>
                <a:spcPts val="1000"/>
              </a:spcAft>
              <a:defRPr sz="3400" b="1">
                <a:solidFill>
                  <a:srgbClr val="F3F7FA"/>
                </a:solidFill>
                <a:latin typeface="Aptos"/>
              </a:defRPr>
            </a:pPr>
            <a:r>
              <a:t>Estrategia basada en riesgos</a:t>
            </a:r>
          </a:p>
        </p:txBody>
      </p:sp>
      <p:sp>
        <p:nvSpPr>
          <p:cNvPr id="5" name="TextBox 4"/>
          <p:cNvSpPr txBox="1"/>
          <p:nvPr/>
        </p:nvSpPr>
        <p:spPr>
          <a:xfrm>
            <a:off x="731520" y="1874519"/>
            <a:ext cx="10515600" cy="457200"/>
          </a:xfrm>
          <a:prstGeom prst="rect">
            <a:avLst/>
          </a:prstGeom>
          <a:noFill/>
        </p:spPr>
        <p:txBody>
          <a:bodyPr wrap="square" lIns="0" rIns="0">
            <a:spAutoFit/>
          </a:bodyPr>
          <a:lstStyle/>
          <a:p>
            <a:pPr>
              <a:spcAft>
                <a:spcPts val="1000"/>
              </a:spcAft>
              <a:defRPr sz="1700" b="0">
                <a:solidFill>
                  <a:srgbClr val="A8C1CF"/>
                </a:solidFill>
                <a:latin typeface="Aptos"/>
              </a:defRPr>
            </a:pPr>
            <a:r>
              <a:t>IE2 · Seguridad y normativa desde la planificación</a:t>
            </a:r>
          </a:p>
        </p:txBody>
      </p:sp>
      <p:sp>
        <p:nvSpPr>
          <p:cNvPr id="6" name="Rectangle 5"/>
          <p:cNvSpPr/>
          <p:nvPr/>
        </p:nvSpPr>
        <p:spPr>
          <a:xfrm>
            <a:off x="777240" y="2807208"/>
            <a:ext cx="82296" cy="82296"/>
          </a:xfrm>
          <a:prstGeom prst="rect">
            <a:avLst/>
          </a:prstGeom>
          <a:solidFill>
            <a:srgbClr val="40D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24128" y="2697480"/>
            <a:ext cx="10241280" cy="594360"/>
          </a:xfrm>
          <a:prstGeom prst="rect">
            <a:avLst/>
          </a:prstGeom>
          <a:noFill/>
        </p:spPr>
        <p:txBody>
          <a:bodyPr wrap="square" lIns="0" rIns="0">
            <a:spAutoFit/>
          </a:bodyPr>
          <a:lstStyle/>
          <a:p>
            <a:pPr>
              <a:spcAft>
                <a:spcPts val="1000"/>
              </a:spcAft>
              <a:defRPr sz="2100" b="0">
                <a:solidFill>
                  <a:srgbClr val="F3F7FA"/>
                </a:solidFill>
                <a:latin typeface="Aptos"/>
              </a:defRPr>
            </a:pPr>
            <a:r>
              <a:t>Shift-Left: requisitos → riesgos → casos → evidencia</a:t>
            </a:r>
          </a:p>
        </p:txBody>
      </p:sp>
      <p:sp>
        <p:nvSpPr>
          <p:cNvPr id="8" name="Rectangle 7"/>
          <p:cNvSpPr/>
          <p:nvPr/>
        </p:nvSpPr>
        <p:spPr>
          <a:xfrm>
            <a:off x="777240" y="3465576"/>
            <a:ext cx="82296" cy="82296"/>
          </a:xfrm>
          <a:prstGeom prst="rect">
            <a:avLst/>
          </a:prstGeom>
          <a:solidFill>
            <a:srgbClr val="40D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3355848"/>
            <a:ext cx="10241280" cy="594360"/>
          </a:xfrm>
          <a:prstGeom prst="rect">
            <a:avLst/>
          </a:prstGeom>
          <a:noFill/>
        </p:spPr>
        <p:txBody>
          <a:bodyPr wrap="square" lIns="0" rIns="0">
            <a:spAutoFit/>
          </a:bodyPr>
          <a:lstStyle/>
          <a:p>
            <a:pPr>
              <a:spcAft>
                <a:spcPts val="1000"/>
              </a:spcAft>
              <a:defRPr sz="2100" b="0">
                <a:solidFill>
                  <a:srgbClr val="F3F7FA"/>
                </a:solidFill>
                <a:latin typeface="Aptos"/>
              </a:defRPr>
            </a:pPr>
            <a:r>
              <a:t>Primero autorización y credenciales; después persistencia y rendimiento</a:t>
            </a:r>
          </a:p>
        </p:txBody>
      </p:sp>
      <p:sp>
        <p:nvSpPr>
          <p:cNvPr id="10" name="Rectangle 9"/>
          <p:cNvSpPr/>
          <p:nvPr/>
        </p:nvSpPr>
        <p:spPr>
          <a:xfrm>
            <a:off x="777240" y="4123944"/>
            <a:ext cx="82296" cy="82296"/>
          </a:xfrm>
          <a:prstGeom prst="rect">
            <a:avLst/>
          </a:prstGeom>
          <a:solidFill>
            <a:srgbClr val="40D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4128" y="4014216"/>
            <a:ext cx="10241280" cy="594360"/>
          </a:xfrm>
          <a:prstGeom prst="rect">
            <a:avLst/>
          </a:prstGeom>
          <a:noFill/>
        </p:spPr>
        <p:txBody>
          <a:bodyPr wrap="square" lIns="0" rIns="0">
            <a:spAutoFit/>
          </a:bodyPr>
          <a:lstStyle/>
          <a:p>
            <a:pPr>
              <a:spcAft>
                <a:spcPts val="1000"/>
              </a:spcAft>
              <a:defRPr sz="2100" b="0">
                <a:solidFill>
                  <a:srgbClr val="F3F7FA"/>
                </a:solidFill>
                <a:latin typeface="Aptos"/>
              </a:defRPr>
            </a:pPr>
            <a:r>
              <a:t>Entrada: ambiente aislado. Salida: cero críticos o graves abiertos</a:t>
            </a:r>
          </a:p>
        </p:txBody>
      </p:sp>
      <p:sp>
        <p:nvSpPr>
          <p:cNvPr id="12" name="Rectangle 11"/>
          <p:cNvSpPr/>
          <p:nvPr/>
        </p:nvSpPr>
        <p:spPr>
          <a:xfrm>
            <a:off x="731520" y="6236208"/>
            <a:ext cx="10698480" cy="13716"/>
          </a:xfrm>
          <a:prstGeom prst="rect">
            <a:avLst/>
          </a:prstGeom>
          <a:solidFill>
            <a:srgbClr val="294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6382512"/>
            <a:ext cx="9144000" cy="228600"/>
          </a:xfrm>
          <a:prstGeom prst="rect">
            <a:avLst/>
          </a:prstGeom>
          <a:noFill/>
        </p:spPr>
        <p:txBody>
          <a:bodyPr wrap="square" lIns="0" rIns="0">
            <a:spAutoFit/>
          </a:bodyPr>
          <a:lstStyle/>
          <a:p>
            <a:pPr>
              <a:spcAft>
                <a:spcPts val="1000"/>
              </a:spcAft>
              <a:defRPr sz="1000" b="0">
                <a:solidFill>
                  <a:srgbClr val="A8C1CF"/>
                </a:solidFill>
                <a:latin typeface="Aptos"/>
              </a:defRPr>
            </a:pPr>
            <a:r>
              <a:t>ISY1102 · Duoc UC · 20 de octubre de 2026</a:t>
            </a:r>
          </a:p>
        </p:txBody>
      </p:sp>
      <p:sp>
        <p:nvSpPr>
          <p:cNvPr id="14" name="TextBox 13"/>
          <p:cNvSpPr txBox="1"/>
          <p:nvPr/>
        </p:nvSpPr>
        <p:spPr>
          <a:xfrm>
            <a:off x="10515600" y="6345936"/>
            <a:ext cx="914400" cy="274320"/>
          </a:xfrm>
          <a:prstGeom prst="rect">
            <a:avLst/>
          </a:prstGeom>
          <a:noFill/>
        </p:spPr>
        <p:txBody>
          <a:bodyPr wrap="square" lIns="0" rIns="0">
            <a:spAutoFit/>
          </a:bodyPr>
          <a:lstStyle/>
          <a:p>
            <a:pPr>
              <a:spcAft>
                <a:spcPts val="1000"/>
              </a:spcAft>
              <a:defRPr sz="1100" b="0">
                <a:solidFill>
                  <a:srgbClr val="40D9B1"/>
                </a:solidFill>
                <a:latin typeface="Aptos"/>
              </a:defRPr>
            </a:pPr>
            <a:r>
              <a:t>03 / 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E2D"/>
        </a:solidFill>
        <a:effectLst/>
      </p:bgPr>
    </p:bg>
    <p:spTree>
      <p:nvGrpSpPr>
        <p:cNvPr id="1" name=""/>
        <p:cNvGrpSpPr/>
        <p:nvPr/>
      </p:nvGrpSpPr>
      <p:grpSpPr/>
      <p:sp>
        <p:nvSpPr>
          <p:cNvPr id="2" name="Rectangle 1"/>
          <p:cNvSpPr/>
          <p:nvPr/>
        </p:nvSpPr>
        <p:spPr>
          <a:xfrm>
            <a:off x="502920" y="475488"/>
            <a:ext cx="118872" cy="365760"/>
          </a:xfrm>
          <a:prstGeom prst="rect">
            <a:avLst/>
          </a:prstGeom>
          <a:solidFill>
            <a:srgbClr val="40D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12064"/>
            <a:ext cx="10058400" cy="274320"/>
          </a:xfrm>
          <a:prstGeom prst="rect">
            <a:avLst/>
          </a:prstGeom>
          <a:noFill/>
        </p:spPr>
        <p:txBody>
          <a:bodyPr wrap="square" lIns="0" rIns="0">
            <a:spAutoFit/>
          </a:bodyPr>
          <a:lstStyle/>
          <a:p>
            <a:pPr>
              <a:spcAft>
                <a:spcPts val="1000"/>
              </a:spcAft>
              <a:defRPr sz="1200" b="1">
                <a:solidFill>
                  <a:srgbClr val="40D9B1"/>
                </a:solidFill>
                <a:latin typeface="Aptos"/>
              </a:defRPr>
            </a:pPr>
            <a:r>
              <a:t>CUIDARTE+ / ASEGURAMIENTO DE CALIDAD</a:t>
            </a:r>
          </a:p>
        </p:txBody>
      </p:sp>
      <p:sp>
        <p:nvSpPr>
          <p:cNvPr id="4" name="TextBox 3"/>
          <p:cNvSpPr txBox="1"/>
          <p:nvPr/>
        </p:nvSpPr>
        <p:spPr>
          <a:xfrm>
            <a:off x="731520" y="1051560"/>
            <a:ext cx="10789920" cy="777240"/>
          </a:xfrm>
          <a:prstGeom prst="rect">
            <a:avLst/>
          </a:prstGeom>
          <a:noFill/>
        </p:spPr>
        <p:txBody>
          <a:bodyPr wrap="square" lIns="0" rIns="0">
            <a:spAutoFit/>
          </a:bodyPr>
          <a:lstStyle/>
          <a:p>
            <a:pPr>
              <a:spcAft>
                <a:spcPts val="1000"/>
              </a:spcAft>
              <a:defRPr sz="3400" b="1">
                <a:solidFill>
                  <a:srgbClr val="F3F7FA"/>
                </a:solidFill>
                <a:latin typeface="Aptos"/>
              </a:defRPr>
            </a:pPr>
            <a:r>
              <a:t>Tipos de prueba: qué comprueba cada uno</a:t>
            </a:r>
          </a:p>
        </p:txBody>
      </p:sp>
      <p:sp>
        <p:nvSpPr>
          <p:cNvPr id="5" name="TextBox 4"/>
          <p:cNvSpPr txBox="1"/>
          <p:nvPr/>
        </p:nvSpPr>
        <p:spPr>
          <a:xfrm>
            <a:off x="731520" y="1874519"/>
            <a:ext cx="10515600" cy="457200"/>
          </a:xfrm>
          <a:prstGeom prst="rect">
            <a:avLst/>
          </a:prstGeom>
          <a:noFill/>
        </p:spPr>
        <p:txBody>
          <a:bodyPr wrap="square" lIns="0" rIns="0">
            <a:spAutoFit/>
          </a:bodyPr>
          <a:lstStyle/>
          <a:p>
            <a:pPr>
              <a:spcAft>
                <a:spcPts val="1000"/>
              </a:spcAft>
              <a:defRPr sz="1700" b="0">
                <a:solidFill>
                  <a:srgbClr val="A8C1CF"/>
                </a:solidFill>
                <a:latin typeface="Aptos"/>
              </a:defRPr>
            </a:pPr>
            <a:r>
              <a:t>IE4 · Origen del caso e impacto</a:t>
            </a:r>
          </a:p>
        </p:txBody>
      </p:sp>
      <p:sp>
        <p:nvSpPr>
          <p:cNvPr id="6" name="Rectangle 5"/>
          <p:cNvSpPr/>
          <p:nvPr/>
        </p:nvSpPr>
        <p:spPr>
          <a:xfrm>
            <a:off x="777240" y="2807208"/>
            <a:ext cx="82296" cy="82296"/>
          </a:xfrm>
          <a:prstGeom prst="rect">
            <a:avLst/>
          </a:prstGeom>
          <a:solidFill>
            <a:srgbClr val="40D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24128" y="2697480"/>
            <a:ext cx="10241280" cy="594360"/>
          </a:xfrm>
          <a:prstGeom prst="rect">
            <a:avLst/>
          </a:prstGeom>
          <a:noFill/>
        </p:spPr>
        <p:txBody>
          <a:bodyPr wrap="square" lIns="0" rIns="0">
            <a:spAutoFit/>
          </a:bodyPr>
          <a:lstStyle/>
          <a:p>
            <a:pPr>
              <a:spcAft>
                <a:spcPts val="1000"/>
              </a:spcAft>
              <a:defRPr sz="2100" b="0">
                <a:solidFill>
                  <a:srgbClr val="F3F7FA"/>
                </a:solidFill>
                <a:latin typeface="Aptos"/>
              </a:defRPr>
            </a:pPr>
            <a:r>
              <a:t>Funcional: login válido e inválido → continuidad de acceso</a:t>
            </a:r>
          </a:p>
        </p:txBody>
      </p:sp>
      <p:sp>
        <p:nvSpPr>
          <p:cNvPr id="8" name="Rectangle 7"/>
          <p:cNvSpPr/>
          <p:nvPr/>
        </p:nvSpPr>
        <p:spPr>
          <a:xfrm>
            <a:off x="777240" y="3465576"/>
            <a:ext cx="82296" cy="82296"/>
          </a:xfrm>
          <a:prstGeom prst="rect">
            <a:avLst/>
          </a:prstGeom>
          <a:solidFill>
            <a:srgbClr val="40D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3355848"/>
            <a:ext cx="10241280" cy="594360"/>
          </a:xfrm>
          <a:prstGeom prst="rect">
            <a:avLst/>
          </a:prstGeom>
          <a:noFill/>
        </p:spPr>
        <p:txBody>
          <a:bodyPr wrap="square" lIns="0" rIns="0">
            <a:spAutoFit/>
          </a:bodyPr>
          <a:lstStyle/>
          <a:p>
            <a:pPr>
              <a:spcAft>
                <a:spcPts val="1000"/>
              </a:spcAft>
              <a:defRPr sz="2100" b="0">
                <a:solidFill>
                  <a:srgbClr val="F3F7FA"/>
                </a:solidFill>
                <a:latin typeface="Aptos"/>
              </a:defRPr>
            </a:pPr>
            <a:r>
              <a:t>Integración: API + base + PDF → persistencia e integridad</a:t>
            </a:r>
          </a:p>
        </p:txBody>
      </p:sp>
      <p:sp>
        <p:nvSpPr>
          <p:cNvPr id="10" name="Rectangle 9"/>
          <p:cNvSpPr/>
          <p:nvPr/>
        </p:nvSpPr>
        <p:spPr>
          <a:xfrm>
            <a:off x="777240" y="4123944"/>
            <a:ext cx="82296" cy="82296"/>
          </a:xfrm>
          <a:prstGeom prst="rect">
            <a:avLst/>
          </a:prstGeom>
          <a:solidFill>
            <a:srgbClr val="40D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4128" y="4014216"/>
            <a:ext cx="10241280" cy="594360"/>
          </a:xfrm>
          <a:prstGeom prst="rect">
            <a:avLst/>
          </a:prstGeom>
          <a:noFill/>
        </p:spPr>
        <p:txBody>
          <a:bodyPr wrap="square" lIns="0" rIns="0">
            <a:spAutoFit/>
          </a:bodyPr>
          <a:lstStyle/>
          <a:p>
            <a:pPr>
              <a:spcAft>
                <a:spcPts val="1000"/>
              </a:spcAft>
              <a:defRPr sz="2100" b="0">
                <a:solidFill>
                  <a:srgbClr val="F3F7FA"/>
                </a:solidFill>
                <a:latin typeface="Aptos"/>
              </a:defRPr>
            </a:pPr>
            <a:r>
              <a:t>Seguridad: JWT, IDOR y roles → confidencialidad y privilegios</a:t>
            </a:r>
          </a:p>
        </p:txBody>
      </p:sp>
      <p:sp>
        <p:nvSpPr>
          <p:cNvPr id="12" name="Rectangle 11"/>
          <p:cNvSpPr/>
          <p:nvPr/>
        </p:nvSpPr>
        <p:spPr>
          <a:xfrm>
            <a:off x="777240" y="4782312"/>
            <a:ext cx="82296" cy="82296"/>
          </a:xfrm>
          <a:prstGeom prst="rect">
            <a:avLst/>
          </a:prstGeom>
          <a:solidFill>
            <a:srgbClr val="40D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24128" y="4672584"/>
            <a:ext cx="10241280" cy="594360"/>
          </a:xfrm>
          <a:prstGeom prst="rect">
            <a:avLst/>
          </a:prstGeom>
          <a:noFill/>
        </p:spPr>
        <p:txBody>
          <a:bodyPr wrap="square" lIns="0" rIns="0">
            <a:spAutoFit/>
          </a:bodyPr>
          <a:lstStyle/>
          <a:p>
            <a:pPr>
              <a:spcAft>
                <a:spcPts val="1000"/>
              </a:spcAft>
              <a:defRPr sz="2100" b="0">
                <a:solidFill>
                  <a:srgbClr val="F3F7FA"/>
                </a:solidFill>
                <a:latin typeface="Aptos"/>
              </a:defRPr>
            </a:pPr>
            <a:r>
              <a:t>Rendimiento: consulta y carga breve → tiempo de atención</a:t>
            </a:r>
          </a:p>
        </p:txBody>
      </p:sp>
      <p:sp>
        <p:nvSpPr>
          <p:cNvPr id="14" name="Rectangle 13"/>
          <p:cNvSpPr/>
          <p:nvPr/>
        </p:nvSpPr>
        <p:spPr>
          <a:xfrm>
            <a:off x="731520" y="6236208"/>
            <a:ext cx="10698480" cy="13716"/>
          </a:xfrm>
          <a:prstGeom prst="rect">
            <a:avLst/>
          </a:prstGeom>
          <a:solidFill>
            <a:srgbClr val="294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6382512"/>
            <a:ext cx="9144000" cy="228600"/>
          </a:xfrm>
          <a:prstGeom prst="rect">
            <a:avLst/>
          </a:prstGeom>
          <a:noFill/>
        </p:spPr>
        <p:txBody>
          <a:bodyPr wrap="square" lIns="0" rIns="0">
            <a:spAutoFit/>
          </a:bodyPr>
          <a:lstStyle/>
          <a:p>
            <a:pPr>
              <a:spcAft>
                <a:spcPts val="1000"/>
              </a:spcAft>
              <a:defRPr sz="1000" b="0">
                <a:solidFill>
                  <a:srgbClr val="A8C1CF"/>
                </a:solidFill>
                <a:latin typeface="Aptos"/>
              </a:defRPr>
            </a:pPr>
            <a:r>
              <a:t>ISY1102 · Duoc UC · 20 de octubre de 2026</a:t>
            </a:r>
          </a:p>
        </p:txBody>
      </p:sp>
      <p:sp>
        <p:nvSpPr>
          <p:cNvPr id="16" name="TextBox 15"/>
          <p:cNvSpPr txBox="1"/>
          <p:nvPr/>
        </p:nvSpPr>
        <p:spPr>
          <a:xfrm>
            <a:off x="10515600" y="6345936"/>
            <a:ext cx="914400" cy="274320"/>
          </a:xfrm>
          <a:prstGeom prst="rect">
            <a:avLst/>
          </a:prstGeom>
          <a:noFill/>
        </p:spPr>
        <p:txBody>
          <a:bodyPr wrap="square" lIns="0" rIns="0">
            <a:spAutoFit/>
          </a:bodyPr>
          <a:lstStyle/>
          <a:p>
            <a:pPr>
              <a:spcAft>
                <a:spcPts val="1000"/>
              </a:spcAft>
              <a:defRPr sz="1100" b="0">
                <a:solidFill>
                  <a:srgbClr val="40D9B1"/>
                </a:solidFill>
                <a:latin typeface="Aptos"/>
              </a:defRPr>
            </a:pPr>
            <a:r>
              <a:t>04 / 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E2D"/>
        </a:solidFill>
        <a:effectLst/>
      </p:bgPr>
    </p:bg>
    <p:spTree>
      <p:nvGrpSpPr>
        <p:cNvPr id="1" name=""/>
        <p:cNvGrpSpPr/>
        <p:nvPr/>
      </p:nvGrpSpPr>
      <p:grpSpPr/>
      <p:sp>
        <p:nvSpPr>
          <p:cNvPr id="2" name="Rectangle 1"/>
          <p:cNvSpPr/>
          <p:nvPr/>
        </p:nvSpPr>
        <p:spPr>
          <a:xfrm>
            <a:off x="502920" y="475488"/>
            <a:ext cx="118872" cy="365760"/>
          </a:xfrm>
          <a:prstGeom prst="rect">
            <a:avLst/>
          </a:prstGeom>
          <a:solidFill>
            <a:srgbClr val="40D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12064"/>
            <a:ext cx="10058400" cy="274320"/>
          </a:xfrm>
          <a:prstGeom prst="rect">
            <a:avLst/>
          </a:prstGeom>
          <a:noFill/>
        </p:spPr>
        <p:txBody>
          <a:bodyPr wrap="square" lIns="0" rIns="0">
            <a:spAutoFit/>
          </a:bodyPr>
          <a:lstStyle/>
          <a:p>
            <a:pPr>
              <a:spcAft>
                <a:spcPts val="1000"/>
              </a:spcAft>
              <a:defRPr sz="1200" b="1">
                <a:solidFill>
                  <a:srgbClr val="40D9B1"/>
                </a:solidFill>
                <a:latin typeface="Aptos"/>
              </a:defRPr>
            </a:pPr>
            <a:r>
              <a:t>CUIDARTE+ / ASEGURAMIENTO DE CALIDAD</a:t>
            </a:r>
          </a:p>
        </p:txBody>
      </p:sp>
      <p:sp>
        <p:nvSpPr>
          <p:cNvPr id="4" name="TextBox 3"/>
          <p:cNvSpPr txBox="1"/>
          <p:nvPr/>
        </p:nvSpPr>
        <p:spPr>
          <a:xfrm>
            <a:off x="731520" y="1051560"/>
            <a:ext cx="10789920" cy="777240"/>
          </a:xfrm>
          <a:prstGeom prst="rect">
            <a:avLst/>
          </a:prstGeom>
          <a:noFill/>
        </p:spPr>
        <p:txBody>
          <a:bodyPr wrap="square" lIns="0" rIns="0">
            <a:spAutoFit/>
          </a:bodyPr>
          <a:lstStyle/>
          <a:p>
            <a:pPr>
              <a:spcAft>
                <a:spcPts val="1000"/>
              </a:spcAft>
              <a:defRPr sz="3400" b="1">
                <a:solidFill>
                  <a:srgbClr val="F3F7FA"/>
                </a:solidFill>
                <a:latin typeface="Aptos"/>
              </a:defRPr>
            </a:pPr>
            <a:r>
              <a:t>Casos definidos y trazabilidad</a:t>
            </a:r>
          </a:p>
        </p:txBody>
      </p:sp>
      <p:sp>
        <p:nvSpPr>
          <p:cNvPr id="5" name="TextBox 4"/>
          <p:cNvSpPr txBox="1"/>
          <p:nvPr/>
        </p:nvSpPr>
        <p:spPr>
          <a:xfrm>
            <a:off x="731520" y="1874519"/>
            <a:ext cx="10515600" cy="457200"/>
          </a:xfrm>
          <a:prstGeom prst="rect">
            <a:avLst/>
          </a:prstGeom>
          <a:noFill/>
        </p:spPr>
        <p:txBody>
          <a:bodyPr wrap="square" lIns="0" rIns="0">
            <a:spAutoFit/>
          </a:bodyPr>
          <a:lstStyle/>
          <a:p>
            <a:pPr>
              <a:spcAft>
                <a:spcPts val="1000"/>
              </a:spcAft>
              <a:defRPr sz="1700" b="0">
                <a:solidFill>
                  <a:srgbClr val="A8C1CF"/>
                </a:solidFill>
                <a:latin typeface="Aptos"/>
              </a:defRPr>
            </a:pPr>
            <a:r>
              <a:t>IE4 / IE8 · Del requisito al defecto</a:t>
            </a:r>
          </a:p>
        </p:txBody>
      </p:sp>
      <p:sp>
        <p:nvSpPr>
          <p:cNvPr id="6" name="Rectangle 5"/>
          <p:cNvSpPr/>
          <p:nvPr/>
        </p:nvSpPr>
        <p:spPr>
          <a:xfrm>
            <a:off x="777240" y="2807208"/>
            <a:ext cx="82296" cy="82296"/>
          </a:xfrm>
          <a:prstGeom prst="rect">
            <a:avLst/>
          </a:prstGeom>
          <a:solidFill>
            <a:srgbClr val="40D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24128" y="2697480"/>
            <a:ext cx="10241280" cy="594360"/>
          </a:xfrm>
          <a:prstGeom prst="rect">
            <a:avLst/>
          </a:prstGeom>
          <a:noFill/>
        </p:spPr>
        <p:txBody>
          <a:bodyPr wrap="square" lIns="0" rIns="0">
            <a:spAutoFit/>
          </a:bodyPr>
          <a:lstStyle/>
          <a:p>
            <a:pPr>
              <a:spcAft>
                <a:spcPts val="1000"/>
              </a:spcAft>
              <a:defRPr sz="2100" b="0">
                <a:solidFill>
                  <a:srgbClr val="F3F7FA"/>
                </a:solidFill>
                <a:latin typeface="Aptos"/>
              </a:defRPr>
            </a:pPr>
            <a:r>
              <a:t>8 casos maestros; 12 checkpoints API derivados</a:t>
            </a:r>
          </a:p>
        </p:txBody>
      </p:sp>
      <p:sp>
        <p:nvSpPr>
          <p:cNvPr id="8" name="Rectangle 7"/>
          <p:cNvSpPr/>
          <p:nvPr/>
        </p:nvSpPr>
        <p:spPr>
          <a:xfrm>
            <a:off x="777240" y="3465576"/>
            <a:ext cx="82296" cy="82296"/>
          </a:xfrm>
          <a:prstGeom prst="rect">
            <a:avLst/>
          </a:prstGeom>
          <a:solidFill>
            <a:srgbClr val="40D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3355848"/>
            <a:ext cx="10241280" cy="594360"/>
          </a:xfrm>
          <a:prstGeom prst="rect">
            <a:avLst/>
          </a:prstGeom>
          <a:noFill/>
        </p:spPr>
        <p:txBody>
          <a:bodyPr wrap="square" lIns="0" rIns="0">
            <a:spAutoFit/>
          </a:bodyPr>
          <a:lstStyle/>
          <a:p>
            <a:pPr>
              <a:spcAft>
                <a:spcPts val="1000"/>
              </a:spcAft>
              <a:defRPr sz="2100" b="0">
                <a:solidFill>
                  <a:srgbClr val="F3F7FA"/>
                </a:solidFill>
                <a:latin typeface="Aptos"/>
              </a:defRPr>
            </a:pPr>
            <a:r>
              <a:t>RF-3.3 → CP-FUNC-003 → CP-API-007 → DEF-003</a:t>
            </a:r>
          </a:p>
        </p:txBody>
      </p:sp>
      <p:sp>
        <p:nvSpPr>
          <p:cNvPr id="10" name="Rectangle 9"/>
          <p:cNvSpPr/>
          <p:nvPr/>
        </p:nvSpPr>
        <p:spPr>
          <a:xfrm>
            <a:off x="777240" y="4123944"/>
            <a:ext cx="82296" cy="82296"/>
          </a:xfrm>
          <a:prstGeom prst="rect">
            <a:avLst/>
          </a:prstGeom>
          <a:solidFill>
            <a:srgbClr val="40D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4128" y="4014216"/>
            <a:ext cx="10241280" cy="594360"/>
          </a:xfrm>
          <a:prstGeom prst="rect">
            <a:avLst/>
          </a:prstGeom>
          <a:noFill/>
        </p:spPr>
        <p:txBody>
          <a:bodyPr wrap="square" lIns="0" rIns="0">
            <a:spAutoFit/>
          </a:bodyPr>
          <a:lstStyle/>
          <a:p>
            <a:pPr>
              <a:spcAft>
                <a:spcPts val="1000"/>
              </a:spcAft>
              <a:defRPr sz="2100" b="0">
                <a:solidFill>
                  <a:srgbClr val="F3F7FA"/>
                </a:solidFill>
                <a:latin typeface="Aptos"/>
              </a:defRPr>
            </a:pPr>
            <a:r>
              <a:t>Esperado: conservar fila. Obtenido: cero filas tras DELETE</a:t>
            </a:r>
          </a:p>
        </p:txBody>
      </p:sp>
      <p:sp>
        <p:nvSpPr>
          <p:cNvPr id="12" name="Rectangle 11"/>
          <p:cNvSpPr/>
          <p:nvPr/>
        </p:nvSpPr>
        <p:spPr>
          <a:xfrm>
            <a:off x="777240" y="4782312"/>
            <a:ext cx="82296" cy="82296"/>
          </a:xfrm>
          <a:prstGeom prst="rect">
            <a:avLst/>
          </a:prstGeom>
          <a:solidFill>
            <a:srgbClr val="40D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24128" y="4672584"/>
            <a:ext cx="10241280" cy="594360"/>
          </a:xfrm>
          <a:prstGeom prst="rect">
            <a:avLst/>
          </a:prstGeom>
          <a:noFill/>
        </p:spPr>
        <p:txBody>
          <a:bodyPr wrap="square" lIns="0" rIns="0">
            <a:spAutoFit/>
          </a:bodyPr>
          <a:lstStyle/>
          <a:p>
            <a:pPr>
              <a:spcAft>
                <a:spcPts val="1000"/>
              </a:spcAft>
              <a:defRPr sz="2100" b="0">
                <a:solidFill>
                  <a:srgbClr val="F3F7FA"/>
                </a:solidFill>
                <a:latin typeface="Aptos"/>
              </a:defRPr>
            </a:pPr>
            <a:r>
              <a:t>SQLi y WCAG completos permanecen pendientes</a:t>
            </a:r>
          </a:p>
        </p:txBody>
      </p:sp>
      <p:sp>
        <p:nvSpPr>
          <p:cNvPr id="14" name="Rectangle 13"/>
          <p:cNvSpPr/>
          <p:nvPr/>
        </p:nvSpPr>
        <p:spPr>
          <a:xfrm>
            <a:off x="731520" y="6236208"/>
            <a:ext cx="10698480" cy="13716"/>
          </a:xfrm>
          <a:prstGeom prst="rect">
            <a:avLst/>
          </a:prstGeom>
          <a:solidFill>
            <a:srgbClr val="294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6382512"/>
            <a:ext cx="9144000" cy="228600"/>
          </a:xfrm>
          <a:prstGeom prst="rect">
            <a:avLst/>
          </a:prstGeom>
          <a:noFill/>
        </p:spPr>
        <p:txBody>
          <a:bodyPr wrap="square" lIns="0" rIns="0">
            <a:spAutoFit/>
          </a:bodyPr>
          <a:lstStyle/>
          <a:p>
            <a:pPr>
              <a:spcAft>
                <a:spcPts val="1000"/>
              </a:spcAft>
              <a:defRPr sz="1000" b="0">
                <a:solidFill>
                  <a:srgbClr val="A8C1CF"/>
                </a:solidFill>
                <a:latin typeface="Aptos"/>
              </a:defRPr>
            </a:pPr>
            <a:r>
              <a:t>ISY1102 · Duoc UC · 20 de octubre de 2026</a:t>
            </a:r>
          </a:p>
        </p:txBody>
      </p:sp>
      <p:sp>
        <p:nvSpPr>
          <p:cNvPr id="16" name="TextBox 15"/>
          <p:cNvSpPr txBox="1"/>
          <p:nvPr/>
        </p:nvSpPr>
        <p:spPr>
          <a:xfrm>
            <a:off x="10515600" y="6345936"/>
            <a:ext cx="914400" cy="274320"/>
          </a:xfrm>
          <a:prstGeom prst="rect">
            <a:avLst/>
          </a:prstGeom>
          <a:noFill/>
        </p:spPr>
        <p:txBody>
          <a:bodyPr wrap="square" lIns="0" rIns="0">
            <a:spAutoFit/>
          </a:bodyPr>
          <a:lstStyle/>
          <a:p>
            <a:pPr>
              <a:spcAft>
                <a:spcPts val="1000"/>
              </a:spcAft>
              <a:defRPr sz="1100" b="0">
                <a:solidFill>
                  <a:srgbClr val="40D9B1"/>
                </a:solidFill>
                <a:latin typeface="Aptos"/>
              </a:defRPr>
            </a:pPr>
            <a:r>
              <a:t>05 / 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E2D"/>
        </a:solidFill>
        <a:effectLst/>
      </p:bgPr>
    </p:bg>
    <p:spTree>
      <p:nvGrpSpPr>
        <p:cNvPr id="1" name=""/>
        <p:cNvGrpSpPr/>
        <p:nvPr/>
      </p:nvGrpSpPr>
      <p:grpSpPr/>
      <p:sp>
        <p:nvSpPr>
          <p:cNvPr id="2" name="Rectangle 1"/>
          <p:cNvSpPr/>
          <p:nvPr/>
        </p:nvSpPr>
        <p:spPr>
          <a:xfrm>
            <a:off x="502920" y="475488"/>
            <a:ext cx="118872" cy="365760"/>
          </a:xfrm>
          <a:prstGeom prst="rect">
            <a:avLst/>
          </a:prstGeom>
          <a:solidFill>
            <a:srgbClr val="40D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12064"/>
            <a:ext cx="10058400" cy="274320"/>
          </a:xfrm>
          <a:prstGeom prst="rect">
            <a:avLst/>
          </a:prstGeom>
          <a:noFill/>
        </p:spPr>
        <p:txBody>
          <a:bodyPr wrap="square" lIns="0" rIns="0">
            <a:spAutoFit/>
          </a:bodyPr>
          <a:lstStyle/>
          <a:p>
            <a:pPr>
              <a:spcAft>
                <a:spcPts val="1000"/>
              </a:spcAft>
              <a:defRPr sz="1200" b="1">
                <a:solidFill>
                  <a:srgbClr val="40D9B1"/>
                </a:solidFill>
                <a:latin typeface="Aptos"/>
              </a:defRPr>
            </a:pPr>
            <a:r>
              <a:t>CUIDARTE+ / ASEGURAMIENTO DE CALIDAD</a:t>
            </a:r>
          </a:p>
        </p:txBody>
      </p:sp>
      <p:sp>
        <p:nvSpPr>
          <p:cNvPr id="4" name="TextBox 3"/>
          <p:cNvSpPr txBox="1"/>
          <p:nvPr/>
        </p:nvSpPr>
        <p:spPr>
          <a:xfrm>
            <a:off x="731520" y="1051560"/>
            <a:ext cx="10789920" cy="777240"/>
          </a:xfrm>
          <a:prstGeom prst="rect">
            <a:avLst/>
          </a:prstGeom>
          <a:noFill/>
        </p:spPr>
        <p:txBody>
          <a:bodyPr wrap="square" lIns="0" rIns="0">
            <a:spAutoFit/>
          </a:bodyPr>
          <a:lstStyle/>
          <a:p>
            <a:pPr>
              <a:spcAft>
                <a:spcPts val="1000"/>
              </a:spcAft>
              <a:defRPr sz="3400" b="1">
                <a:solidFill>
                  <a:srgbClr val="F3F7FA"/>
                </a:solidFill>
                <a:latin typeface="Aptos"/>
              </a:defRPr>
            </a:pPr>
            <a:r>
              <a:t>Herramientas y ambiente reproducible</a:t>
            </a:r>
          </a:p>
        </p:txBody>
      </p:sp>
      <p:sp>
        <p:nvSpPr>
          <p:cNvPr id="5" name="TextBox 4"/>
          <p:cNvSpPr txBox="1"/>
          <p:nvPr/>
        </p:nvSpPr>
        <p:spPr>
          <a:xfrm>
            <a:off x="731520" y="1874519"/>
            <a:ext cx="10515600" cy="457200"/>
          </a:xfrm>
          <a:prstGeom prst="rect">
            <a:avLst/>
          </a:prstGeom>
          <a:noFill/>
        </p:spPr>
        <p:txBody>
          <a:bodyPr wrap="square" lIns="0" rIns="0">
            <a:spAutoFit/>
          </a:bodyPr>
          <a:lstStyle/>
          <a:p>
            <a:pPr>
              <a:spcAft>
                <a:spcPts val="1000"/>
              </a:spcAft>
              <a:defRPr sz="1700" b="0">
                <a:solidFill>
                  <a:srgbClr val="A8C1CF"/>
                </a:solidFill>
                <a:latin typeface="Aptos"/>
              </a:defRPr>
            </a:pPr>
            <a:r>
              <a:t>Elección y límites de cada herramienta</a:t>
            </a:r>
          </a:p>
        </p:txBody>
      </p:sp>
      <p:sp>
        <p:nvSpPr>
          <p:cNvPr id="6" name="Rectangle 5"/>
          <p:cNvSpPr/>
          <p:nvPr/>
        </p:nvSpPr>
        <p:spPr>
          <a:xfrm>
            <a:off x="777240" y="2807208"/>
            <a:ext cx="82296" cy="82296"/>
          </a:xfrm>
          <a:prstGeom prst="rect">
            <a:avLst/>
          </a:prstGeom>
          <a:solidFill>
            <a:srgbClr val="40D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24128" y="2697480"/>
            <a:ext cx="10241280" cy="594360"/>
          </a:xfrm>
          <a:prstGeom prst="rect">
            <a:avLst/>
          </a:prstGeom>
          <a:noFill/>
        </p:spPr>
        <p:txBody>
          <a:bodyPr wrap="square" lIns="0" rIns="0">
            <a:spAutoFit/>
          </a:bodyPr>
          <a:lstStyle/>
          <a:p>
            <a:pPr>
              <a:spcAft>
                <a:spcPts val="1000"/>
              </a:spcAft>
              <a:defRPr sz="2100" b="0">
                <a:solidFill>
                  <a:srgbClr val="F3F7FA"/>
                </a:solidFill>
                <a:latin typeface="Aptos"/>
              </a:defRPr>
            </a:pPr>
            <a:r>
              <a:t>Node.js fetch + PostgreSQL: peticiones y verificación de persistencia</a:t>
            </a:r>
          </a:p>
        </p:txBody>
      </p:sp>
      <p:sp>
        <p:nvSpPr>
          <p:cNvPr id="8" name="Rectangle 7"/>
          <p:cNvSpPr/>
          <p:nvPr/>
        </p:nvSpPr>
        <p:spPr>
          <a:xfrm>
            <a:off x="777240" y="3465576"/>
            <a:ext cx="82296" cy="82296"/>
          </a:xfrm>
          <a:prstGeom prst="rect">
            <a:avLst/>
          </a:prstGeom>
          <a:solidFill>
            <a:srgbClr val="40D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3355848"/>
            <a:ext cx="10241280" cy="594360"/>
          </a:xfrm>
          <a:prstGeom prst="rect">
            <a:avLst/>
          </a:prstGeom>
          <a:noFill/>
        </p:spPr>
        <p:txBody>
          <a:bodyPr wrap="square" lIns="0" rIns="0">
            <a:spAutoFit/>
          </a:bodyPr>
          <a:lstStyle/>
          <a:p>
            <a:pPr>
              <a:spcAft>
                <a:spcPts val="1000"/>
              </a:spcAft>
              <a:defRPr sz="2100" b="0">
                <a:solidFill>
                  <a:srgbClr val="F3F7FA"/>
                </a:solidFill>
                <a:latin typeface="Aptos"/>
              </a:defRPr>
            </a:pPr>
            <a:r>
              <a:t>SonarQube + escáner oficial: análisis estático exportado</a:t>
            </a:r>
          </a:p>
        </p:txBody>
      </p:sp>
      <p:sp>
        <p:nvSpPr>
          <p:cNvPr id="10" name="Rectangle 9"/>
          <p:cNvSpPr/>
          <p:nvPr/>
        </p:nvSpPr>
        <p:spPr>
          <a:xfrm>
            <a:off x="777240" y="4123944"/>
            <a:ext cx="82296" cy="82296"/>
          </a:xfrm>
          <a:prstGeom prst="rect">
            <a:avLst/>
          </a:prstGeom>
          <a:solidFill>
            <a:srgbClr val="40D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4128" y="4014216"/>
            <a:ext cx="10241280" cy="594360"/>
          </a:xfrm>
          <a:prstGeom prst="rect">
            <a:avLst/>
          </a:prstGeom>
          <a:noFill/>
        </p:spPr>
        <p:txBody>
          <a:bodyPr wrap="square" lIns="0" rIns="0">
            <a:spAutoFit/>
          </a:bodyPr>
          <a:lstStyle/>
          <a:p>
            <a:pPr>
              <a:spcAft>
                <a:spcPts val="1000"/>
              </a:spcAft>
              <a:defRPr sz="2100" b="0">
                <a:solidFill>
                  <a:srgbClr val="F3F7FA"/>
                </a:solidFill>
                <a:latin typeface="Aptos"/>
              </a:defRPr>
            </a:pPr>
            <a:r>
              <a:t>Docker: base aislada; navegador: evidencia visual</a:t>
            </a:r>
          </a:p>
        </p:txBody>
      </p:sp>
      <p:sp>
        <p:nvSpPr>
          <p:cNvPr id="12" name="Rectangle 11"/>
          <p:cNvSpPr/>
          <p:nvPr/>
        </p:nvSpPr>
        <p:spPr>
          <a:xfrm>
            <a:off x="777240" y="4782312"/>
            <a:ext cx="82296" cy="82296"/>
          </a:xfrm>
          <a:prstGeom prst="rect">
            <a:avLst/>
          </a:prstGeom>
          <a:solidFill>
            <a:srgbClr val="40D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24128" y="4672584"/>
            <a:ext cx="10241280" cy="594360"/>
          </a:xfrm>
          <a:prstGeom prst="rect">
            <a:avLst/>
          </a:prstGeom>
          <a:noFill/>
        </p:spPr>
        <p:txBody>
          <a:bodyPr wrap="square" lIns="0" rIns="0">
            <a:spAutoFit/>
          </a:bodyPr>
          <a:lstStyle/>
          <a:p>
            <a:pPr>
              <a:spcAft>
                <a:spcPts val="1000"/>
              </a:spcAft>
              <a:defRPr sz="2100" b="0">
                <a:solidFill>
                  <a:srgbClr val="F3F7FA"/>
                </a:solidFill>
                <a:latin typeface="Aptos"/>
              </a:defRPr>
            </a:pPr>
            <a:r>
              <a:t>Jest, DAST, JMeter sostenido y WCAG: ampliaciones pendientes</a:t>
            </a:r>
          </a:p>
        </p:txBody>
      </p:sp>
      <p:sp>
        <p:nvSpPr>
          <p:cNvPr id="14" name="Rectangle 13"/>
          <p:cNvSpPr/>
          <p:nvPr/>
        </p:nvSpPr>
        <p:spPr>
          <a:xfrm>
            <a:off x="731520" y="6236208"/>
            <a:ext cx="10698480" cy="13716"/>
          </a:xfrm>
          <a:prstGeom prst="rect">
            <a:avLst/>
          </a:prstGeom>
          <a:solidFill>
            <a:srgbClr val="294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6382512"/>
            <a:ext cx="9144000" cy="228600"/>
          </a:xfrm>
          <a:prstGeom prst="rect">
            <a:avLst/>
          </a:prstGeom>
          <a:noFill/>
        </p:spPr>
        <p:txBody>
          <a:bodyPr wrap="square" lIns="0" rIns="0">
            <a:spAutoFit/>
          </a:bodyPr>
          <a:lstStyle/>
          <a:p>
            <a:pPr>
              <a:spcAft>
                <a:spcPts val="1000"/>
              </a:spcAft>
              <a:defRPr sz="1000" b="0">
                <a:solidFill>
                  <a:srgbClr val="A8C1CF"/>
                </a:solidFill>
                <a:latin typeface="Aptos"/>
              </a:defRPr>
            </a:pPr>
            <a:r>
              <a:t>ISY1102 · Duoc UC · 20 de octubre de 2026</a:t>
            </a:r>
          </a:p>
        </p:txBody>
      </p:sp>
      <p:sp>
        <p:nvSpPr>
          <p:cNvPr id="16" name="TextBox 15"/>
          <p:cNvSpPr txBox="1"/>
          <p:nvPr/>
        </p:nvSpPr>
        <p:spPr>
          <a:xfrm>
            <a:off x="10515600" y="6345936"/>
            <a:ext cx="914400" cy="274320"/>
          </a:xfrm>
          <a:prstGeom prst="rect">
            <a:avLst/>
          </a:prstGeom>
          <a:noFill/>
        </p:spPr>
        <p:txBody>
          <a:bodyPr wrap="square" lIns="0" rIns="0">
            <a:spAutoFit/>
          </a:bodyPr>
          <a:lstStyle/>
          <a:p>
            <a:pPr>
              <a:spcAft>
                <a:spcPts val="1000"/>
              </a:spcAft>
              <a:defRPr sz="1100" b="0">
                <a:solidFill>
                  <a:srgbClr val="40D9B1"/>
                </a:solidFill>
                <a:latin typeface="Aptos"/>
              </a:defRPr>
            </a:pPr>
            <a:r>
              <a:t>06 / 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E2D"/>
        </a:solidFill>
        <a:effectLst/>
      </p:bgPr>
    </p:bg>
    <p:spTree>
      <p:nvGrpSpPr>
        <p:cNvPr id="1" name=""/>
        <p:cNvGrpSpPr/>
        <p:nvPr/>
      </p:nvGrpSpPr>
      <p:grpSpPr/>
      <p:sp>
        <p:nvSpPr>
          <p:cNvPr id="2" name="Rectangle 1"/>
          <p:cNvSpPr/>
          <p:nvPr/>
        </p:nvSpPr>
        <p:spPr>
          <a:xfrm>
            <a:off x="502920" y="475488"/>
            <a:ext cx="118872" cy="365760"/>
          </a:xfrm>
          <a:prstGeom prst="rect">
            <a:avLst/>
          </a:prstGeom>
          <a:solidFill>
            <a:srgbClr val="40D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12064"/>
            <a:ext cx="10058400" cy="274320"/>
          </a:xfrm>
          <a:prstGeom prst="rect">
            <a:avLst/>
          </a:prstGeom>
          <a:noFill/>
        </p:spPr>
        <p:txBody>
          <a:bodyPr wrap="square" lIns="0" rIns="0">
            <a:spAutoFit/>
          </a:bodyPr>
          <a:lstStyle/>
          <a:p>
            <a:pPr>
              <a:spcAft>
                <a:spcPts val="1000"/>
              </a:spcAft>
              <a:defRPr sz="1200" b="1">
                <a:solidFill>
                  <a:srgbClr val="40D9B1"/>
                </a:solidFill>
                <a:latin typeface="Aptos"/>
              </a:defRPr>
            </a:pPr>
            <a:r>
              <a:t>CUIDARTE+ / ASEGURAMIENTO DE CALIDAD</a:t>
            </a:r>
          </a:p>
        </p:txBody>
      </p:sp>
      <p:sp>
        <p:nvSpPr>
          <p:cNvPr id="4" name="TextBox 3"/>
          <p:cNvSpPr txBox="1"/>
          <p:nvPr/>
        </p:nvSpPr>
        <p:spPr>
          <a:xfrm>
            <a:off x="731520" y="1051560"/>
            <a:ext cx="10789920" cy="777240"/>
          </a:xfrm>
          <a:prstGeom prst="rect">
            <a:avLst/>
          </a:prstGeom>
          <a:noFill/>
        </p:spPr>
        <p:txBody>
          <a:bodyPr wrap="square" lIns="0" rIns="0">
            <a:spAutoFit/>
          </a:bodyPr>
          <a:lstStyle/>
          <a:p>
            <a:pPr>
              <a:spcAft>
                <a:spcPts val="1000"/>
              </a:spcAft>
              <a:defRPr sz="3400" b="1">
                <a:solidFill>
                  <a:srgbClr val="F3F7FA"/>
                </a:solidFill>
                <a:latin typeface="Aptos"/>
              </a:defRPr>
            </a:pPr>
            <a:r>
              <a:t>Ejecución: 12 comprobaciones reales</a:t>
            </a:r>
          </a:p>
        </p:txBody>
      </p:sp>
      <p:sp>
        <p:nvSpPr>
          <p:cNvPr id="5" name="TextBox 4"/>
          <p:cNvSpPr txBox="1"/>
          <p:nvPr/>
        </p:nvSpPr>
        <p:spPr>
          <a:xfrm>
            <a:off x="731520" y="1874519"/>
            <a:ext cx="10515600" cy="457200"/>
          </a:xfrm>
          <a:prstGeom prst="rect">
            <a:avLst/>
          </a:prstGeom>
          <a:noFill/>
        </p:spPr>
        <p:txBody>
          <a:bodyPr wrap="square" lIns="0" rIns="0">
            <a:spAutoFit/>
          </a:bodyPr>
          <a:lstStyle/>
          <a:p>
            <a:pPr>
              <a:spcAft>
                <a:spcPts val="1000"/>
              </a:spcAft>
              <a:defRPr sz="1700" b="0">
                <a:solidFill>
                  <a:srgbClr val="A8C1CF"/>
                </a:solidFill>
                <a:latin typeface="Aptos"/>
              </a:defRPr>
            </a:pPr>
            <a:r>
              <a:t>IE8 · Resultado, evidencia y alcance</a:t>
            </a:r>
          </a:p>
        </p:txBody>
      </p:sp>
      <p:sp>
        <p:nvSpPr>
          <p:cNvPr id="6" name="Rectangle 5"/>
          <p:cNvSpPr/>
          <p:nvPr/>
        </p:nvSpPr>
        <p:spPr>
          <a:xfrm>
            <a:off x="914400" y="2651760"/>
            <a:ext cx="3108960" cy="1371600"/>
          </a:xfrm>
          <a:prstGeom prst="rect">
            <a:avLst/>
          </a:prstGeom>
          <a:solidFill>
            <a:srgbClr val="132F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743200"/>
            <a:ext cx="2743200" cy="640080"/>
          </a:xfrm>
          <a:prstGeom prst="rect">
            <a:avLst/>
          </a:prstGeom>
          <a:noFill/>
        </p:spPr>
        <p:txBody>
          <a:bodyPr wrap="square" lIns="0" rIns="0">
            <a:spAutoFit/>
          </a:bodyPr>
          <a:lstStyle/>
          <a:p>
            <a:pPr>
              <a:spcAft>
                <a:spcPts val="1000"/>
              </a:spcAft>
              <a:defRPr sz="4200" b="1">
                <a:solidFill>
                  <a:srgbClr val="F3F7FA"/>
                </a:solidFill>
                <a:latin typeface="Aptos"/>
              </a:defRPr>
            </a:pPr>
            <a:r>
              <a:t>12</a:t>
            </a:r>
          </a:p>
        </p:txBody>
      </p:sp>
      <p:sp>
        <p:nvSpPr>
          <p:cNvPr id="8" name="TextBox 7"/>
          <p:cNvSpPr txBox="1"/>
          <p:nvPr/>
        </p:nvSpPr>
        <p:spPr>
          <a:xfrm>
            <a:off x="1097280" y="3474720"/>
            <a:ext cx="2743200" cy="320040"/>
          </a:xfrm>
          <a:prstGeom prst="rect">
            <a:avLst/>
          </a:prstGeom>
          <a:noFill/>
        </p:spPr>
        <p:txBody>
          <a:bodyPr wrap="square" lIns="0" rIns="0">
            <a:spAutoFit/>
          </a:bodyPr>
          <a:lstStyle/>
          <a:p>
            <a:pPr>
              <a:spcAft>
                <a:spcPts val="1000"/>
              </a:spcAft>
              <a:defRPr sz="1300" b="0">
                <a:solidFill>
                  <a:srgbClr val="A8C1CF"/>
                </a:solidFill>
                <a:latin typeface="Aptos"/>
              </a:defRPr>
            </a:pPr>
            <a:r>
              <a:t>EJECUTADAS</a:t>
            </a:r>
          </a:p>
        </p:txBody>
      </p:sp>
      <p:sp>
        <p:nvSpPr>
          <p:cNvPr id="9" name="Rectangle 8"/>
          <p:cNvSpPr/>
          <p:nvPr/>
        </p:nvSpPr>
        <p:spPr>
          <a:xfrm>
            <a:off x="4480560" y="2651760"/>
            <a:ext cx="3108960" cy="1371600"/>
          </a:xfrm>
          <a:prstGeom prst="rect">
            <a:avLst/>
          </a:prstGeom>
          <a:solidFill>
            <a:srgbClr val="132F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63440" y="2743200"/>
            <a:ext cx="2743200" cy="640080"/>
          </a:xfrm>
          <a:prstGeom prst="rect">
            <a:avLst/>
          </a:prstGeom>
          <a:noFill/>
        </p:spPr>
        <p:txBody>
          <a:bodyPr wrap="square" lIns="0" rIns="0">
            <a:spAutoFit/>
          </a:bodyPr>
          <a:lstStyle/>
          <a:p>
            <a:pPr>
              <a:spcAft>
                <a:spcPts val="1000"/>
              </a:spcAft>
              <a:defRPr sz="4200" b="1">
                <a:solidFill>
                  <a:srgbClr val="40D9B1"/>
                </a:solidFill>
                <a:latin typeface="Aptos"/>
              </a:defRPr>
            </a:pPr>
            <a:r>
              <a:t>6</a:t>
            </a:r>
          </a:p>
        </p:txBody>
      </p:sp>
      <p:sp>
        <p:nvSpPr>
          <p:cNvPr id="11" name="TextBox 10"/>
          <p:cNvSpPr txBox="1"/>
          <p:nvPr/>
        </p:nvSpPr>
        <p:spPr>
          <a:xfrm>
            <a:off x="4663440" y="3474720"/>
            <a:ext cx="2743200" cy="320040"/>
          </a:xfrm>
          <a:prstGeom prst="rect">
            <a:avLst/>
          </a:prstGeom>
          <a:noFill/>
        </p:spPr>
        <p:txBody>
          <a:bodyPr wrap="square" lIns="0" rIns="0">
            <a:spAutoFit/>
          </a:bodyPr>
          <a:lstStyle/>
          <a:p>
            <a:pPr>
              <a:spcAft>
                <a:spcPts val="1000"/>
              </a:spcAft>
              <a:defRPr sz="1300" b="0">
                <a:solidFill>
                  <a:srgbClr val="A8C1CF"/>
                </a:solidFill>
                <a:latin typeface="Aptos"/>
              </a:defRPr>
            </a:pPr>
            <a:r>
              <a:t>PASS</a:t>
            </a:r>
          </a:p>
        </p:txBody>
      </p:sp>
      <p:sp>
        <p:nvSpPr>
          <p:cNvPr id="12" name="Rectangle 11"/>
          <p:cNvSpPr/>
          <p:nvPr/>
        </p:nvSpPr>
        <p:spPr>
          <a:xfrm>
            <a:off x="8046720" y="2651760"/>
            <a:ext cx="3108960" cy="1371600"/>
          </a:xfrm>
          <a:prstGeom prst="rect">
            <a:avLst/>
          </a:prstGeom>
          <a:solidFill>
            <a:srgbClr val="132F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0" y="2743200"/>
            <a:ext cx="2743200" cy="640080"/>
          </a:xfrm>
          <a:prstGeom prst="rect">
            <a:avLst/>
          </a:prstGeom>
          <a:noFill/>
        </p:spPr>
        <p:txBody>
          <a:bodyPr wrap="square" lIns="0" rIns="0">
            <a:spAutoFit/>
          </a:bodyPr>
          <a:lstStyle/>
          <a:p>
            <a:pPr>
              <a:spcAft>
                <a:spcPts val="1000"/>
              </a:spcAft>
              <a:defRPr sz="4200" b="1">
                <a:solidFill>
                  <a:srgbClr val="FF7B82"/>
                </a:solidFill>
                <a:latin typeface="Aptos"/>
              </a:defRPr>
            </a:pPr>
            <a:r>
              <a:t>6</a:t>
            </a:r>
          </a:p>
        </p:txBody>
      </p:sp>
      <p:sp>
        <p:nvSpPr>
          <p:cNvPr id="14" name="TextBox 13"/>
          <p:cNvSpPr txBox="1"/>
          <p:nvPr/>
        </p:nvSpPr>
        <p:spPr>
          <a:xfrm>
            <a:off x="8229600" y="3474720"/>
            <a:ext cx="2743200" cy="320040"/>
          </a:xfrm>
          <a:prstGeom prst="rect">
            <a:avLst/>
          </a:prstGeom>
          <a:noFill/>
        </p:spPr>
        <p:txBody>
          <a:bodyPr wrap="square" lIns="0" rIns="0">
            <a:spAutoFit/>
          </a:bodyPr>
          <a:lstStyle/>
          <a:p>
            <a:pPr>
              <a:spcAft>
                <a:spcPts val="1000"/>
              </a:spcAft>
              <a:defRPr sz="1300" b="0">
                <a:solidFill>
                  <a:srgbClr val="A8C1CF"/>
                </a:solidFill>
                <a:latin typeface="Aptos"/>
              </a:defRPr>
            </a:pPr>
            <a:r>
              <a:t>FAIL</a:t>
            </a:r>
          </a:p>
        </p:txBody>
      </p:sp>
      <p:sp>
        <p:nvSpPr>
          <p:cNvPr id="15" name="TextBox 14"/>
          <p:cNvSpPr txBox="1"/>
          <p:nvPr/>
        </p:nvSpPr>
        <p:spPr>
          <a:xfrm>
            <a:off x="914400" y="4434840"/>
            <a:ext cx="10332720" cy="502920"/>
          </a:xfrm>
          <a:prstGeom prst="rect">
            <a:avLst/>
          </a:prstGeom>
          <a:noFill/>
        </p:spPr>
        <p:txBody>
          <a:bodyPr wrap="square" lIns="0" rIns="0">
            <a:spAutoFit/>
          </a:bodyPr>
          <a:lstStyle/>
          <a:p>
            <a:pPr>
              <a:spcAft>
                <a:spcPts val="1000"/>
              </a:spcAft>
              <a:defRPr sz="2200" b="0">
                <a:solidFill>
                  <a:srgbClr val="F3F7FA"/>
                </a:solidFill>
                <a:latin typeface="Aptos"/>
              </a:defRPr>
            </a:pPr>
            <a:r>
              <a:t>Evidencia por caso: esperado → obtenido → base → incidente</a:t>
            </a:r>
          </a:p>
        </p:txBody>
      </p:sp>
      <p:sp>
        <p:nvSpPr>
          <p:cNvPr id="16" name="TextBox 15"/>
          <p:cNvSpPr txBox="1"/>
          <p:nvPr/>
        </p:nvSpPr>
        <p:spPr>
          <a:xfrm>
            <a:off x="914400" y="5120640"/>
            <a:ext cx="10058400" cy="594360"/>
          </a:xfrm>
          <a:prstGeom prst="rect">
            <a:avLst/>
          </a:prstGeom>
          <a:noFill/>
        </p:spPr>
        <p:txBody>
          <a:bodyPr wrap="square" lIns="0" rIns="0">
            <a:spAutoFit/>
          </a:bodyPr>
          <a:lstStyle/>
          <a:p>
            <a:pPr>
              <a:spcAft>
                <a:spcPts val="1000"/>
              </a:spcAft>
              <a:defRPr sz="1800" b="0">
                <a:solidFill>
                  <a:srgbClr val="A8C1CF"/>
                </a:solidFill>
                <a:latin typeface="Aptos"/>
              </a:defRPr>
            </a:pPr>
            <a:r>
              <a:t>La suite API y los PASS históricos de UI tienen denominadores separados.</a:t>
            </a:r>
          </a:p>
        </p:txBody>
      </p:sp>
      <p:sp>
        <p:nvSpPr>
          <p:cNvPr id="17" name="Rectangle 16"/>
          <p:cNvSpPr/>
          <p:nvPr/>
        </p:nvSpPr>
        <p:spPr>
          <a:xfrm>
            <a:off x="731520" y="6236208"/>
            <a:ext cx="10698480" cy="13716"/>
          </a:xfrm>
          <a:prstGeom prst="rect">
            <a:avLst/>
          </a:prstGeom>
          <a:solidFill>
            <a:srgbClr val="294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6382512"/>
            <a:ext cx="9144000" cy="228600"/>
          </a:xfrm>
          <a:prstGeom prst="rect">
            <a:avLst/>
          </a:prstGeom>
          <a:noFill/>
        </p:spPr>
        <p:txBody>
          <a:bodyPr wrap="square" lIns="0" rIns="0">
            <a:spAutoFit/>
          </a:bodyPr>
          <a:lstStyle/>
          <a:p>
            <a:pPr>
              <a:spcAft>
                <a:spcPts val="1000"/>
              </a:spcAft>
              <a:defRPr sz="1000" b="0">
                <a:solidFill>
                  <a:srgbClr val="A8C1CF"/>
                </a:solidFill>
                <a:latin typeface="Aptos"/>
              </a:defRPr>
            </a:pPr>
            <a:r>
              <a:t>ISY1102 · Duoc UC · 20 de octubre de 2026</a:t>
            </a:r>
          </a:p>
        </p:txBody>
      </p:sp>
      <p:sp>
        <p:nvSpPr>
          <p:cNvPr id="19" name="TextBox 18"/>
          <p:cNvSpPr txBox="1"/>
          <p:nvPr/>
        </p:nvSpPr>
        <p:spPr>
          <a:xfrm>
            <a:off x="10515600" y="6345936"/>
            <a:ext cx="914400" cy="274320"/>
          </a:xfrm>
          <a:prstGeom prst="rect">
            <a:avLst/>
          </a:prstGeom>
          <a:noFill/>
        </p:spPr>
        <p:txBody>
          <a:bodyPr wrap="square" lIns="0" rIns="0">
            <a:spAutoFit/>
          </a:bodyPr>
          <a:lstStyle/>
          <a:p>
            <a:pPr>
              <a:spcAft>
                <a:spcPts val="1000"/>
              </a:spcAft>
              <a:defRPr sz="1100" b="0">
                <a:solidFill>
                  <a:srgbClr val="40D9B1"/>
                </a:solidFill>
                <a:latin typeface="Aptos"/>
              </a:defRPr>
            </a:pPr>
            <a:r>
              <a:t>07 / 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E2D"/>
        </a:solidFill>
        <a:effectLst/>
      </p:bgPr>
    </p:bg>
    <p:spTree>
      <p:nvGrpSpPr>
        <p:cNvPr id="1" name=""/>
        <p:cNvGrpSpPr/>
        <p:nvPr/>
      </p:nvGrpSpPr>
      <p:grpSpPr/>
      <p:sp>
        <p:nvSpPr>
          <p:cNvPr id="2" name="Rectangle 1"/>
          <p:cNvSpPr/>
          <p:nvPr/>
        </p:nvSpPr>
        <p:spPr>
          <a:xfrm>
            <a:off x="502920" y="475488"/>
            <a:ext cx="118872" cy="365760"/>
          </a:xfrm>
          <a:prstGeom prst="rect">
            <a:avLst/>
          </a:prstGeom>
          <a:solidFill>
            <a:srgbClr val="40D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12064"/>
            <a:ext cx="10058400" cy="274320"/>
          </a:xfrm>
          <a:prstGeom prst="rect">
            <a:avLst/>
          </a:prstGeom>
          <a:noFill/>
        </p:spPr>
        <p:txBody>
          <a:bodyPr wrap="square" lIns="0" rIns="0">
            <a:spAutoFit/>
          </a:bodyPr>
          <a:lstStyle/>
          <a:p>
            <a:pPr>
              <a:spcAft>
                <a:spcPts val="1000"/>
              </a:spcAft>
              <a:defRPr sz="1200" b="1">
                <a:solidFill>
                  <a:srgbClr val="40D9B1"/>
                </a:solidFill>
                <a:latin typeface="Aptos"/>
              </a:defRPr>
            </a:pPr>
            <a:r>
              <a:t>CUIDARTE+ / ASEGURAMIENTO DE CALIDAD</a:t>
            </a:r>
          </a:p>
        </p:txBody>
      </p:sp>
      <p:sp>
        <p:nvSpPr>
          <p:cNvPr id="4" name="TextBox 3"/>
          <p:cNvSpPr txBox="1"/>
          <p:nvPr/>
        </p:nvSpPr>
        <p:spPr>
          <a:xfrm>
            <a:off x="731520" y="1051560"/>
            <a:ext cx="10789920" cy="777240"/>
          </a:xfrm>
          <a:prstGeom prst="rect">
            <a:avLst/>
          </a:prstGeom>
          <a:noFill/>
        </p:spPr>
        <p:txBody>
          <a:bodyPr wrap="square" lIns="0" rIns="0">
            <a:spAutoFit/>
          </a:bodyPr>
          <a:lstStyle/>
          <a:p>
            <a:pPr>
              <a:spcAft>
                <a:spcPts val="1000"/>
              </a:spcAft>
              <a:defRPr sz="3400" b="1">
                <a:solidFill>
                  <a:srgbClr val="F3F7FA"/>
                </a:solidFill>
                <a:latin typeface="Aptos"/>
              </a:defRPr>
            </a:pPr>
            <a:r>
              <a:t>Defectos que bloquean el lanzamiento</a:t>
            </a:r>
          </a:p>
        </p:txBody>
      </p:sp>
      <p:sp>
        <p:nvSpPr>
          <p:cNvPr id="5" name="TextBox 4"/>
          <p:cNvSpPr txBox="1"/>
          <p:nvPr/>
        </p:nvSpPr>
        <p:spPr>
          <a:xfrm>
            <a:off x="731520" y="1874519"/>
            <a:ext cx="10515600" cy="457200"/>
          </a:xfrm>
          <a:prstGeom prst="rect">
            <a:avLst/>
          </a:prstGeom>
          <a:noFill/>
        </p:spPr>
        <p:txBody>
          <a:bodyPr wrap="square" lIns="0" rIns="0">
            <a:spAutoFit/>
          </a:bodyPr>
          <a:lstStyle/>
          <a:p>
            <a:pPr>
              <a:spcAft>
                <a:spcPts val="1000"/>
              </a:spcAft>
              <a:defRPr sz="1700" b="0">
                <a:solidFill>
                  <a:srgbClr val="A8C1CF"/>
                </a:solidFill>
                <a:latin typeface="Aptos"/>
              </a:defRPr>
            </a:pPr>
            <a:r>
              <a:t>IE4 / IE10 · Clasificación por impacto</a:t>
            </a:r>
          </a:p>
        </p:txBody>
      </p:sp>
      <p:sp>
        <p:nvSpPr>
          <p:cNvPr id="6" name="Rectangle 5"/>
          <p:cNvSpPr/>
          <p:nvPr/>
        </p:nvSpPr>
        <p:spPr>
          <a:xfrm>
            <a:off x="777240" y="2807208"/>
            <a:ext cx="82296" cy="82296"/>
          </a:xfrm>
          <a:prstGeom prst="rect">
            <a:avLst/>
          </a:prstGeom>
          <a:solidFill>
            <a:srgbClr val="FF7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24128" y="2697480"/>
            <a:ext cx="10241280" cy="594360"/>
          </a:xfrm>
          <a:prstGeom prst="rect">
            <a:avLst/>
          </a:prstGeom>
          <a:noFill/>
        </p:spPr>
        <p:txBody>
          <a:bodyPr wrap="square" lIns="0" rIns="0">
            <a:spAutoFit/>
          </a:bodyPr>
          <a:lstStyle/>
          <a:p>
            <a:pPr>
              <a:spcAft>
                <a:spcPts val="1000"/>
              </a:spcAft>
              <a:defRPr sz="2100" b="0">
                <a:solidFill>
                  <a:srgbClr val="F3F7FA"/>
                </a:solidFill>
                <a:latin typeface="Aptos"/>
              </a:defRPr>
            </a:pPr>
            <a:r>
              <a:t>CRÍTICO: médico se asigna administrador (HTTP 200)</a:t>
            </a:r>
          </a:p>
        </p:txBody>
      </p:sp>
      <p:sp>
        <p:nvSpPr>
          <p:cNvPr id="8" name="Rectangle 7"/>
          <p:cNvSpPr/>
          <p:nvPr/>
        </p:nvSpPr>
        <p:spPr>
          <a:xfrm>
            <a:off x="777240" y="3465576"/>
            <a:ext cx="82296" cy="82296"/>
          </a:xfrm>
          <a:prstGeom prst="rect">
            <a:avLst/>
          </a:prstGeom>
          <a:solidFill>
            <a:srgbClr val="FF7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3355848"/>
            <a:ext cx="10241280" cy="594360"/>
          </a:xfrm>
          <a:prstGeom prst="rect">
            <a:avLst/>
          </a:prstGeom>
          <a:noFill/>
        </p:spPr>
        <p:txBody>
          <a:bodyPr wrap="square" lIns="0" rIns="0">
            <a:spAutoFit/>
          </a:bodyPr>
          <a:lstStyle/>
          <a:p>
            <a:pPr>
              <a:spcAft>
                <a:spcPts val="1000"/>
              </a:spcAft>
              <a:defRPr sz="2100" b="0">
                <a:solidFill>
                  <a:srgbClr val="F3F7FA"/>
                </a:solidFill>
                <a:latin typeface="Aptos"/>
              </a:defRPr>
            </a:pPr>
            <a:r>
              <a:t>CRÍTICO: DELETE de usuario sin sesión elimina la cuenta</a:t>
            </a:r>
          </a:p>
        </p:txBody>
      </p:sp>
      <p:sp>
        <p:nvSpPr>
          <p:cNvPr id="10" name="Rectangle 9"/>
          <p:cNvSpPr/>
          <p:nvPr/>
        </p:nvSpPr>
        <p:spPr>
          <a:xfrm>
            <a:off x="777240" y="4123944"/>
            <a:ext cx="82296" cy="82296"/>
          </a:xfrm>
          <a:prstGeom prst="rect">
            <a:avLst/>
          </a:prstGeom>
          <a:solidFill>
            <a:srgbClr val="40D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4128" y="4014216"/>
            <a:ext cx="10241280" cy="594360"/>
          </a:xfrm>
          <a:prstGeom prst="rect">
            <a:avLst/>
          </a:prstGeom>
          <a:noFill/>
        </p:spPr>
        <p:txBody>
          <a:bodyPr wrap="square" lIns="0" rIns="0">
            <a:spAutoFit/>
          </a:bodyPr>
          <a:lstStyle/>
          <a:p>
            <a:pPr>
              <a:spcAft>
                <a:spcPts val="1000"/>
              </a:spcAft>
              <a:defRPr sz="2100" b="0">
                <a:solidFill>
                  <a:srgbClr val="F3F7FA"/>
                </a:solidFill>
                <a:latin typeface="Aptos"/>
              </a:defRPr>
            </a:pPr>
            <a:r>
              <a:t>GRAVES: contraseñas, borrado físico, auditoría y latencia</a:t>
            </a:r>
          </a:p>
        </p:txBody>
      </p:sp>
      <p:sp>
        <p:nvSpPr>
          <p:cNvPr id="12" name="Rectangle 11"/>
          <p:cNvSpPr/>
          <p:nvPr/>
        </p:nvSpPr>
        <p:spPr>
          <a:xfrm>
            <a:off x="777240" y="4782312"/>
            <a:ext cx="82296" cy="82296"/>
          </a:xfrm>
          <a:prstGeom prst="rect">
            <a:avLst/>
          </a:prstGeom>
          <a:solidFill>
            <a:srgbClr val="40D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24128" y="4672584"/>
            <a:ext cx="10241280" cy="594360"/>
          </a:xfrm>
          <a:prstGeom prst="rect">
            <a:avLst/>
          </a:prstGeom>
          <a:noFill/>
        </p:spPr>
        <p:txBody>
          <a:bodyPr wrap="square" lIns="0" rIns="0">
            <a:spAutoFit/>
          </a:bodyPr>
          <a:lstStyle/>
          <a:p>
            <a:pPr>
              <a:spcAft>
                <a:spcPts val="1000"/>
              </a:spcAft>
              <a:defRPr sz="2100" b="0">
                <a:solidFill>
                  <a:srgbClr val="F3F7FA"/>
                </a:solidFill>
                <a:latin typeface="Aptos"/>
              </a:defRPr>
            </a:pPr>
            <a:r>
              <a:t>Sin correcciones ni retest de cierre: todos siguen abiertos</a:t>
            </a:r>
          </a:p>
        </p:txBody>
      </p:sp>
      <p:sp>
        <p:nvSpPr>
          <p:cNvPr id="14" name="Rectangle 13"/>
          <p:cNvSpPr/>
          <p:nvPr/>
        </p:nvSpPr>
        <p:spPr>
          <a:xfrm>
            <a:off x="731520" y="6236208"/>
            <a:ext cx="10698480" cy="13716"/>
          </a:xfrm>
          <a:prstGeom prst="rect">
            <a:avLst/>
          </a:prstGeom>
          <a:solidFill>
            <a:srgbClr val="294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6382512"/>
            <a:ext cx="9144000" cy="228600"/>
          </a:xfrm>
          <a:prstGeom prst="rect">
            <a:avLst/>
          </a:prstGeom>
          <a:noFill/>
        </p:spPr>
        <p:txBody>
          <a:bodyPr wrap="square" lIns="0" rIns="0">
            <a:spAutoFit/>
          </a:bodyPr>
          <a:lstStyle/>
          <a:p>
            <a:pPr>
              <a:spcAft>
                <a:spcPts val="1000"/>
              </a:spcAft>
              <a:defRPr sz="1000" b="0">
                <a:solidFill>
                  <a:srgbClr val="A8C1CF"/>
                </a:solidFill>
                <a:latin typeface="Aptos"/>
              </a:defRPr>
            </a:pPr>
            <a:r>
              <a:t>ISY1102 · Duoc UC · 20 de octubre de 2026</a:t>
            </a:r>
          </a:p>
        </p:txBody>
      </p:sp>
      <p:sp>
        <p:nvSpPr>
          <p:cNvPr id="16" name="TextBox 15"/>
          <p:cNvSpPr txBox="1"/>
          <p:nvPr/>
        </p:nvSpPr>
        <p:spPr>
          <a:xfrm>
            <a:off x="10515600" y="6345936"/>
            <a:ext cx="914400" cy="274320"/>
          </a:xfrm>
          <a:prstGeom prst="rect">
            <a:avLst/>
          </a:prstGeom>
          <a:noFill/>
        </p:spPr>
        <p:txBody>
          <a:bodyPr wrap="square" lIns="0" rIns="0">
            <a:spAutoFit/>
          </a:bodyPr>
          <a:lstStyle/>
          <a:p>
            <a:pPr>
              <a:spcAft>
                <a:spcPts val="1000"/>
              </a:spcAft>
              <a:defRPr sz="1100" b="0">
                <a:solidFill>
                  <a:srgbClr val="40D9B1"/>
                </a:solidFill>
                <a:latin typeface="Aptos"/>
              </a:defRPr>
            </a:pPr>
            <a:r>
              <a:t>08 / 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E2D"/>
        </a:solidFill>
        <a:effectLst/>
      </p:bgPr>
    </p:bg>
    <p:spTree>
      <p:nvGrpSpPr>
        <p:cNvPr id="1" name=""/>
        <p:cNvGrpSpPr/>
        <p:nvPr/>
      </p:nvGrpSpPr>
      <p:grpSpPr/>
      <p:sp>
        <p:nvSpPr>
          <p:cNvPr id="2" name="Rectangle 1"/>
          <p:cNvSpPr/>
          <p:nvPr/>
        </p:nvSpPr>
        <p:spPr>
          <a:xfrm>
            <a:off x="502920" y="475488"/>
            <a:ext cx="118872" cy="365760"/>
          </a:xfrm>
          <a:prstGeom prst="rect">
            <a:avLst/>
          </a:prstGeom>
          <a:solidFill>
            <a:srgbClr val="40D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12064"/>
            <a:ext cx="10058400" cy="274320"/>
          </a:xfrm>
          <a:prstGeom prst="rect">
            <a:avLst/>
          </a:prstGeom>
          <a:noFill/>
        </p:spPr>
        <p:txBody>
          <a:bodyPr wrap="square" lIns="0" rIns="0">
            <a:spAutoFit/>
          </a:bodyPr>
          <a:lstStyle/>
          <a:p>
            <a:pPr>
              <a:spcAft>
                <a:spcPts val="1000"/>
              </a:spcAft>
              <a:defRPr sz="1200" b="1">
                <a:solidFill>
                  <a:srgbClr val="40D9B1"/>
                </a:solidFill>
                <a:latin typeface="Aptos"/>
              </a:defRPr>
            </a:pPr>
            <a:r>
              <a:t>CUIDARTE+ / ASEGURAMIENTO DE CALIDAD</a:t>
            </a:r>
          </a:p>
        </p:txBody>
      </p:sp>
      <p:sp>
        <p:nvSpPr>
          <p:cNvPr id="4" name="TextBox 3"/>
          <p:cNvSpPr txBox="1"/>
          <p:nvPr/>
        </p:nvSpPr>
        <p:spPr>
          <a:xfrm>
            <a:off x="731520" y="1051560"/>
            <a:ext cx="10789920" cy="777240"/>
          </a:xfrm>
          <a:prstGeom prst="rect">
            <a:avLst/>
          </a:prstGeom>
          <a:noFill/>
        </p:spPr>
        <p:txBody>
          <a:bodyPr wrap="square" lIns="0" rIns="0">
            <a:spAutoFit/>
          </a:bodyPr>
          <a:lstStyle/>
          <a:p>
            <a:pPr>
              <a:spcAft>
                <a:spcPts val="1000"/>
              </a:spcAft>
              <a:defRPr sz="3400" b="1">
                <a:solidFill>
                  <a:srgbClr val="F3F7FA"/>
                </a:solidFill>
                <a:latin typeface="Aptos"/>
              </a:defRPr>
            </a:pPr>
            <a:r>
              <a:t>SonarQube: interpretar, no solo contar</a:t>
            </a:r>
          </a:p>
        </p:txBody>
      </p:sp>
      <p:sp>
        <p:nvSpPr>
          <p:cNvPr id="5" name="TextBox 4"/>
          <p:cNvSpPr txBox="1"/>
          <p:nvPr/>
        </p:nvSpPr>
        <p:spPr>
          <a:xfrm>
            <a:off x="731520" y="1874519"/>
            <a:ext cx="10515600" cy="457200"/>
          </a:xfrm>
          <a:prstGeom prst="rect">
            <a:avLst/>
          </a:prstGeom>
          <a:noFill/>
        </p:spPr>
        <p:txBody>
          <a:bodyPr wrap="square" lIns="0" rIns="0">
            <a:spAutoFit/>
          </a:bodyPr>
          <a:lstStyle/>
          <a:p>
            <a:pPr>
              <a:spcAft>
                <a:spcPts val="1000"/>
              </a:spcAft>
              <a:defRPr sz="1700" b="0">
                <a:solidFill>
                  <a:srgbClr val="A8C1CF"/>
                </a:solidFill>
                <a:latin typeface="Aptos"/>
              </a:defRPr>
            </a:pPr>
            <a:r>
              <a:t>IE6 · Análisis estático y comparación con criterios</a:t>
            </a:r>
          </a:p>
        </p:txBody>
      </p:sp>
      <p:sp>
        <p:nvSpPr>
          <p:cNvPr id="6" name="Rectangle 5"/>
          <p:cNvSpPr/>
          <p:nvPr/>
        </p:nvSpPr>
        <p:spPr>
          <a:xfrm>
            <a:off x="777240" y="2807208"/>
            <a:ext cx="82296" cy="82296"/>
          </a:xfrm>
          <a:prstGeom prst="rect">
            <a:avLst/>
          </a:prstGeom>
          <a:solidFill>
            <a:srgbClr val="40D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24128" y="2697480"/>
            <a:ext cx="10241280" cy="594360"/>
          </a:xfrm>
          <a:prstGeom prst="rect">
            <a:avLst/>
          </a:prstGeom>
          <a:noFill/>
        </p:spPr>
        <p:txBody>
          <a:bodyPr wrap="square" lIns="0" rIns="0">
            <a:spAutoFit/>
          </a:bodyPr>
          <a:lstStyle/>
          <a:p>
            <a:pPr>
              <a:spcAft>
                <a:spcPts val="1000"/>
              </a:spcAft>
              <a:defRPr sz="2100" b="0">
                <a:solidFill>
                  <a:srgbClr val="F3F7FA"/>
                </a:solidFill>
                <a:latin typeface="Aptos"/>
              </a:defRPr>
            </a:pPr>
            <a:r>
              <a:t>Bugs: N/D · Vulnerabilities: N/D · Hotspots: N/D · Smells: N/D</a:t>
            </a:r>
          </a:p>
        </p:txBody>
      </p:sp>
      <p:sp>
        <p:nvSpPr>
          <p:cNvPr id="8" name="Rectangle 7"/>
          <p:cNvSpPr/>
          <p:nvPr/>
        </p:nvSpPr>
        <p:spPr>
          <a:xfrm>
            <a:off x="777240" y="3465576"/>
            <a:ext cx="82296" cy="82296"/>
          </a:xfrm>
          <a:prstGeom prst="rect">
            <a:avLst/>
          </a:prstGeom>
          <a:solidFill>
            <a:srgbClr val="40D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3355848"/>
            <a:ext cx="10241280" cy="594360"/>
          </a:xfrm>
          <a:prstGeom prst="rect">
            <a:avLst/>
          </a:prstGeom>
          <a:noFill/>
        </p:spPr>
        <p:txBody>
          <a:bodyPr wrap="square" lIns="0" rIns="0">
            <a:spAutoFit/>
          </a:bodyPr>
          <a:lstStyle/>
          <a:p>
            <a:pPr>
              <a:spcAft>
                <a:spcPts val="1000"/>
              </a:spcAft>
              <a:defRPr sz="2100" b="0">
                <a:solidFill>
                  <a:srgbClr val="F3F7FA"/>
                </a:solidFill>
                <a:latin typeface="Aptos"/>
              </a:defRPr>
            </a:pPr>
            <a:r>
              <a:t>Quality Gate: PENDIENTE · Coverage: N/D%</a:t>
            </a:r>
          </a:p>
        </p:txBody>
      </p:sp>
      <p:sp>
        <p:nvSpPr>
          <p:cNvPr id="10" name="Rectangle 9"/>
          <p:cNvSpPr/>
          <p:nvPr/>
        </p:nvSpPr>
        <p:spPr>
          <a:xfrm>
            <a:off x="777240" y="4123944"/>
            <a:ext cx="82296" cy="82296"/>
          </a:xfrm>
          <a:prstGeom prst="rect">
            <a:avLst/>
          </a:prstGeom>
          <a:solidFill>
            <a:srgbClr val="40D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4128" y="4014216"/>
            <a:ext cx="10241280" cy="594360"/>
          </a:xfrm>
          <a:prstGeom prst="rect">
            <a:avLst/>
          </a:prstGeom>
          <a:noFill/>
        </p:spPr>
        <p:txBody>
          <a:bodyPr wrap="square" lIns="0" rIns="0">
            <a:spAutoFit/>
          </a:bodyPr>
          <a:lstStyle/>
          <a:p>
            <a:pPr>
              <a:spcAft>
                <a:spcPts val="1000"/>
              </a:spcAft>
              <a:defRPr sz="2100" b="0">
                <a:solidFill>
                  <a:srgbClr val="F3F7FA"/>
                </a:solidFill>
                <a:latin typeface="Aptos"/>
              </a:defRPr>
            </a:pPr>
            <a:r>
              <a:t>Hotspot ≠ vulnerabilidad confirmada; requiere revisión</a:t>
            </a:r>
          </a:p>
        </p:txBody>
      </p:sp>
      <p:sp>
        <p:nvSpPr>
          <p:cNvPr id="12" name="Rectangle 11"/>
          <p:cNvSpPr/>
          <p:nvPr/>
        </p:nvSpPr>
        <p:spPr>
          <a:xfrm>
            <a:off x="777240" y="4782312"/>
            <a:ext cx="82296" cy="82296"/>
          </a:xfrm>
          <a:prstGeom prst="rect">
            <a:avLst/>
          </a:prstGeom>
          <a:solidFill>
            <a:srgbClr val="40D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24128" y="4672584"/>
            <a:ext cx="10241280" cy="594360"/>
          </a:xfrm>
          <a:prstGeom prst="rect">
            <a:avLst/>
          </a:prstGeom>
          <a:noFill/>
        </p:spPr>
        <p:txBody>
          <a:bodyPr wrap="square" lIns="0" rIns="0">
            <a:spAutoFit/>
          </a:bodyPr>
          <a:lstStyle/>
          <a:p>
            <a:pPr>
              <a:spcAft>
                <a:spcPts val="1000"/>
              </a:spcAft>
              <a:defRPr sz="2100" b="0">
                <a:solidFill>
                  <a:srgbClr val="F3F7FA"/>
                </a:solidFill>
                <a:latin typeface="Aptos"/>
              </a:defRPr>
            </a:pPr>
            <a:r>
              <a:t>No se confirma la SQLi del controlador inexistente del encargo</a:t>
            </a:r>
          </a:p>
        </p:txBody>
      </p:sp>
      <p:sp>
        <p:nvSpPr>
          <p:cNvPr id="14" name="Rectangle 13"/>
          <p:cNvSpPr/>
          <p:nvPr/>
        </p:nvSpPr>
        <p:spPr>
          <a:xfrm>
            <a:off x="731520" y="6236208"/>
            <a:ext cx="10698480" cy="13716"/>
          </a:xfrm>
          <a:prstGeom prst="rect">
            <a:avLst/>
          </a:prstGeom>
          <a:solidFill>
            <a:srgbClr val="294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6382512"/>
            <a:ext cx="9144000" cy="228600"/>
          </a:xfrm>
          <a:prstGeom prst="rect">
            <a:avLst/>
          </a:prstGeom>
          <a:noFill/>
        </p:spPr>
        <p:txBody>
          <a:bodyPr wrap="square" lIns="0" rIns="0">
            <a:spAutoFit/>
          </a:bodyPr>
          <a:lstStyle/>
          <a:p>
            <a:pPr>
              <a:spcAft>
                <a:spcPts val="1000"/>
              </a:spcAft>
              <a:defRPr sz="1000" b="0">
                <a:solidFill>
                  <a:srgbClr val="A8C1CF"/>
                </a:solidFill>
                <a:latin typeface="Aptos"/>
              </a:defRPr>
            </a:pPr>
            <a:r>
              <a:t>ISY1102 · Duoc UC · 20 de octubre de 2026</a:t>
            </a:r>
          </a:p>
        </p:txBody>
      </p:sp>
      <p:sp>
        <p:nvSpPr>
          <p:cNvPr id="16" name="TextBox 15"/>
          <p:cNvSpPr txBox="1"/>
          <p:nvPr/>
        </p:nvSpPr>
        <p:spPr>
          <a:xfrm>
            <a:off x="10515600" y="6345936"/>
            <a:ext cx="914400" cy="274320"/>
          </a:xfrm>
          <a:prstGeom prst="rect">
            <a:avLst/>
          </a:prstGeom>
          <a:noFill/>
        </p:spPr>
        <p:txBody>
          <a:bodyPr wrap="square" lIns="0" rIns="0">
            <a:spAutoFit/>
          </a:bodyPr>
          <a:lstStyle/>
          <a:p>
            <a:pPr>
              <a:spcAft>
                <a:spcPts val="1000"/>
              </a:spcAft>
              <a:defRPr sz="1100" b="0">
                <a:solidFill>
                  <a:srgbClr val="40D9B1"/>
                </a:solidFill>
                <a:latin typeface="Aptos"/>
              </a:defRPr>
            </a:pPr>
            <a:r>
              <a:t>09 / 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E2D"/>
        </a:solidFill>
        <a:effectLst/>
      </p:bgPr>
    </p:bg>
    <p:spTree>
      <p:nvGrpSpPr>
        <p:cNvPr id="1" name=""/>
        <p:cNvGrpSpPr/>
        <p:nvPr/>
      </p:nvGrpSpPr>
      <p:grpSpPr/>
      <p:sp>
        <p:nvSpPr>
          <p:cNvPr id="2" name="Rectangle 1"/>
          <p:cNvSpPr/>
          <p:nvPr/>
        </p:nvSpPr>
        <p:spPr>
          <a:xfrm>
            <a:off x="502920" y="475488"/>
            <a:ext cx="118872" cy="365760"/>
          </a:xfrm>
          <a:prstGeom prst="rect">
            <a:avLst/>
          </a:prstGeom>
          <a:solidFill>
            <a:srgbClr val="40D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12064"/>
            <a:ext cx="10058400" cy="274320"/>
          </a:xfrm>
          <a:prstGeom prst="rect">
            <a:avLst/>
          </a:prstGeom>
          <a:noFill/>
        </p:spPr>
        <p:txBody>
          <a:bodyPr wrap="square" lIns="0" rIns="0">
            <a:spAutoFit/>
          </a:bodyPr>
          <a:lstStyle/>
          <a:p>
            <a:pPr>
              <a:spcAft>
                <a:spcPts val="1000"/>
              </a:spcAft>
              <a:defRPr sz="1200" b="1">
                <a:solidFill>
                  <a:srgbClr val="40D9B1"/>
                </a:solidFill>
                <a:latin typeface="Aptos"/>
              </a:defRPr>
            </a:pPr>
            <a:r>
              <a:t>CUIDARTE+ / ASEGURAMIENTO DE CALIDAD</a:t>
            </a:r>
          </a:p>
        </p:txBody>
      </p:sp>
      <p:sp>
        <p:nvSpPr>
          <p:cNvPr id="4" name="TextBox 3"/>
          <p:cNvSpPr txBox="1"/>
          <p:nvPr/>
        </p:nvSpPr>
        <p:spPr>
          <a:xfrm>
            <a:off x="731520" y="1051560"/>
            <a:ext cx="10789920" cy="777240"/>
          </a:xfrm>
          <a:prstGeom prst="rect">
            <a:avLst/>
          </a:prstGeom>
          <a:noFill/>
        </p:spPr>
        <p:txBody>
          <a:bodyPr wrap="square" lIns="0" rIns="0">
            <a:spAutoFit/>
          </a:bodyPr>
          <a:lstStyle/>
          <a:p>
            <a:pPr>
              <a:spcAft>
                <a:spcPts val="1000"/>
              </a:spcAft>
              <a:defRPr sz="3400" b="1">
                <a:solidFill>
                  <a:srgbClr val="F3F7FA"/>
                </a:solidFill>
                <a:latin typeface="Aptos"/>
              </a:defRPr>
            </a:pPr>
            <a:r>
              <a:t>Rendimiento y privacidad</a:t>
            </a:r>
          </a:p>
        </p:txBody>
      </p:sp>
      <p:sp>
        <p:nvSpPr>
          <p:cNvPr id="5" name="TextBox 4"/>
          <p:cNvSpPr txBox="1"/>
          <p:nvPr/>
        </p:nvSpPr>
        <p:spPr>
          <a:xfrm>
            <a:off x="731520" y="1874519"/>
            <a:ext cx="10515600" cy="457200"/>
          </a:xfrm>
          <a:prstGeom prst="rect">
            <a:avLst/>
          </a:prstGeom>
          <a:noFill/>
        </p:spPr>
        <p:txBody>
          <a:bodyPr wrap="square" lIns="0" rIns="0">
            <a:spAutoFit/>
          </a:bodyPr>
          <a:lstStyle/>
          <a:p>
            <a:pPr>
              <a:spcAft>
                <a:spcPts val="1000"/>
              </a:spcAft>
              <a:defRPr sz="1700" b="0">
                <a:solidFill>
                  <a:srgbClr val="A8C1CF"/>
                </a:solidFill>
                <a:latin typeface="Aptos"/>
              </a:defRPr>
            </a:pPr>
            <a:r>
              <a:t>IE6 · Lo medido y la norma aplicable</a:t>
            </a:r>
          </a:p>
        </p:txBody>
      </p:sp>
      <p:sp>
        <p:nvSpPr>
          <p:cNvPr id="6" name="Rectangle 5"/>
          <p:cNvSpPr/>
          <p:nvPr/>
        </p:nvSpPr>
        <p:spPr>
          <a:xfrm>
            <a:off x="777240" y="2807208"/>
            <a:ext cx="82296" cy="82296"/>
          </a:xfrm>
          <a:prstGeom prst="rect">
            <a:avLst/>
          </a:prstGeom>
          <a:solidFill>
            <a:srgbClr val="40D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24128" y="2697480"/>
            <a:ext cx="10241280" cy="594360"/>
          </a:xfrm>
          <a:prstGeom prst="rect">
            <a:avLst/>
          </a:prstGeom>
          <a:noFill/>
        </p:spPr>
        <p:txBody>
          <a:bodyPr wrap="square" lIns="0" rIns="0">
            <a:spAutoFit/>
          </a:bodyPr>
          <a:lstStyle/>
          <a:p>
            <a:pPr>
              <a:spcAft>
                <a:spcPts val="1000"/>
              </a:spcAft>
              <a:defRPr sz="2100" b="0">
                <a:solidFill>
                  <a:srgbClr val="F3F7FA"/>
                </a:solidFill>
                <a:latin typeface="Aptos"/>
              </a:defRPr>
            </a:pPr>
            <a:r>
              <a:t>200 solicitudes simultáneas · p95 8698 ms · objetivo &lt;300 ms</a:t>
            </a:r>
          </a:p>
        </p:txBody>
      </p:sp>
      <p:sp>
        <p:nvSpPr>
          <p:cNvPr id="8" name="Rectangle 7"/>
          <p:cNvSpPr/>
          <p:nvPr/>
        </p:nvSpPr>
        <p:spPr>
          <a:xfrm>
            <a:off x="777240" y="3465576"/>
            <a:ext cx="82296" cy="82296"/>
          </a:xfrm>
          <a:prstGeom prst="rect">
            <a:avLst/>
          </a:prstGeom>
          <a:solidFill>
            <a:srgbClr val="40D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3355848"/>
            <a:ext cx="10241280" cy="594360"/>
          </a:xfrm>
          <a:prstGeom prst="rect">
            <a:avLst/>
          </a:prstGeom>
          <a:noFill/>
        </p:spPr>
        <p:txBody>
          <a:bodyPr wrap="square" lIns="0" rIns="0">
            <a:spAutoFit/>
          </a:bodyPr>
          <a:lstStyle/>
          <a:p>
            <a:pPr>
              <a:spcAft>
                <a:spcPts val="1000"/>
              </a:spcAft>
              <a:defRPr sz="2100" b="0">
                <a:solidFill>
                  <a:srgbClr val="F3F7FA"/>
                </a:solidFill>
                <a:latin typeface="Aptos"/>
              </a:defRPr>
            </a:pPr>
            <a:r>
              <a:t>0 errores HTTP; lote breve, sin acreditar estabilidad sostenida</a:t>
            </a:r>
          </a:p>
        </p:txBody>
      </p:sp>
      <p:sp>
        <p:nvSpPr>
          <p:cNvPr id="10" name="Rectangle 9"/>
          <p:cNvSpPr/>
          <p:nvPr/>
        </p:nvSpPr>
        <p:spPr>
          <a:xfrm>
            <a:off x="777240" y="4123944"/>
            <a:ext cx="82296" cy="82296"/>
          </a:xfrm>
          <a:prstGeom prst="rect">
            <a:avLst/>
          </a:prstGeom>
          <a:solidFill>
            <a:srgbClr val="40D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4128" y="4014216"/>
            <a:ext cx="10241280" cy="594360"/>
          </a:xfrm>
          <a:prstGeom prst="rect">
            <a:avLst/>
          </a:prstGeom>
          <a:noFill/>
        </p:spPr>
        <p:txBody>
          <a:bodyPr wrap="square" lIns="0" rIns="0">
            <a:spAutoFit/>
          </a:bodyPr>
          <a:lstStyle/>
          <a:p>
            <a:pPr>
              <a:spcAft>
                <a:spcPts val="1000"/>
              </a:spcAft>
              <a:defRPr sz="2100" b="0">
                <a:solidFill>
                  <a:srgbClr val="F3F7FA"/>
                </a:solidFill>
                <a:latin typeface="Aptos"/>
              </a:defRPr>
            </a:pPr>
            <a:r>
              <a:t>Ley 19.628: datos de salud y tratamiento indebido</a:t>
            </a:r>
          </a:p>
        </p:txBody>
      </p:sp>
      <p:sp>
        <p:nvSpPr>
          <p:cNvPr id="12" name="Rectangle 11"/>
          <p:cNvSpPr/>
          <p:nvPr/>
        </p:nvSpPr>
        <p:spPr>
          <a:xfrm>
            <a:off x="777240" y="4782312"/>
            <a:ext cx="82296" cy="82296"/>
          </a:xfrm>
          <a:prstGeom prst="rect">
            <a:avLst/>
          </a:prstGeom>
          <a:solidFill>
            <a:srgbClr val="40D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24128" y="4672584"/>
            <a:ext cx="10241280" cy="594360"/>
          </a:xfrm>
          <a:prstGeom prst="rect">
            <a:avLst/>
          </a:prstGeom>
          <a:noFill/>
        </p:spPr>
        <p:txBody>
          <a:bodyPr wrap="square" lIns="0" rIns="0">
            <a:spAutoFit/>
          </a:bodyPr>
          <a:lstStyle/>
          <a:p>
            <a:pPr>
              <a:spcAft>
                <a:spcPts val="1000"/>
              </a:spcAft>
              <a:defRPr sz="2100" b="0">
                <a:solidFill>
                  <a:srgbClr val="F3F7FA"/>
                </a:solidFill>
                <a:latin typeface="Aptos"/>
              </a:defRPr>
            </a:pPr>
            <a:r>
              <a:t>Ley 21.719: vigencia general desde 01-12-2026; Ley 21.663 según ámbito</a:t>
            </a:r>
          </a:p>
        </p:txBody>
      </p:sp>
      <p:sp>
        <p:nvSpPr>
          <p:cNvPr id="14" name="Rectangle 13"/>
          <p:cNvSpPr/>
          <p:nvPr/>
        </p:nvSpPr>
        <p:spPr>
          <a:xfrm>
            <a:off x="731520" y="6236208"/>
            <a:ext cx="10698480" cy="13716"/>
          </a:xfrm>
          <a:prstGeom prst="rect">
            <a:avLst/>
          </a:prstGeom>
          <a:solidFill>
            <a:srgbClr val="294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6382512"/>
            <a:ext cx="9144000" cy="228600"/>
          </a:xfrm>
          <a:prstGeom prst="rect">
            <a:avLst/>
          </a:prstGeom>
          <a:noFill/>
        </p:spPr>
        <p:txBody>
          <a:bodyPr wrap="square" lIns="0" rIns="0">
            <a:spAutoFit/>
          </a:bodyPr>
          <a:lstStyle/>
          <a:p>
            <a:pPr>
              <a:spcAft>
                <a:spcPts val="1000"/>
              </a:spcAft>
              <a:defRPr sz="1000" b="0">
                <a:solidFill>
                  <a:srgbClr val="A8C1CF"/>
                </a:solidFill>
                <a:latin typeface="Aptos"/>
              </a:defRPr>
            </a:pPr>
            <a:r>
              <a:t>ISY1102 · Duoc UC · 20 de octubre de 2026</a:t>
            </a:r>
          </a:p>
        </p:txBody>
      </p:sp>
      <p:sp>
        <p:nvSpPr>
          <p:cNvPr id="16" name="TextBox 15"/>
          <p:cNvSpPr txBox="1"/>
          <p:nvPr/>
        </p:nvSpPr>
        <p:spPr>
          <a:xfrm>
            <a:off x="10515600" y="6345936"/>
            <a:ext cx="914400" cy="274320"/>
          </a:xfrm>
          <a:prstGeom prst="rect">
            <a:avLst/>
          </a:prstGeom>
          <a:noFill/>
        </p:spPr>
        <p:txBody>
          <a:bodyPr wrap="square" lIns="0" rIns="0">
            <a:spAutoFit/>
          </a:bodyPr>
          <a:lstStyle/>
          <a:p>
            <a:pPr>
              <a:spcAft>
                <a:spcPts val="1000"/>
              </a:spcAft>
              <a:defRPr sz="1100" b="0">
                <a:solidFill>
                  <a:srgbClr val="40D9B1"/>
                </a:solidFill>
                <a:latin typeface="Aptos"/>
              </a:defRPr>
            </a:pPr>
            <a:r>
              <a:t>10 /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E2D"/>
        </a:solidFill>
        <a:effectLst/>
      </p:bgPr>
    </p:bg>
    <p:spTree>
      <p:nvGrpSpPr>
        <p:cNvPr id="1" name=""/>
        <p:cNvGrpSpPr/>
        <p:nvPr/>
      </p:nvGrpSpPr>
      <p:grpSpPr/>
      <p:sp>
        <p:nvSpPr>
          <p:cNvPr id="2" name="Rectangle 1"/>
          <p:cNvSpPr/>
          <p:nvPr/>
        </p:nvSpPr>
        <p:spPr>
          <a:xfrm>
            <a:off x="502920" y="475488"/>
            <a:ext cx="118872" cy="365760"/>
          </a:xfrm>
          <a:prstGeom prst="rect">
            <a:avLst/>
          </a:prstGeom>
          <a:solidFill>
            <a:srgbClr val="40D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12064"/>
            <a:ext cx="10058400" cy="274320"/>
          </a:xfrm>
          <a:prstGeom prst="rect">
            <a:avLst/>
          </a:prstGeom>
          <a:noFill/>
        </p:spPr>
        <p:txBody>
          <a:bodyPr wrap="square" lIns="0" rIns="0">
            <a:spAutoFit/>
          </a:bodyPr>
          <a:lstStyle/>
          <a:p>
            <a:pPr>
              <a:spcAft>
                <a:spcPts val="1000"/>
              </a:spcAft>
              <a:defRPr sz="1200" b="1">
                <a:solidFill>
                  <a:srgbClr val="40D9B1"/>
                </a:solidFill>
                <a:latin typeface="Aptos"/>
              </a:defRPr>
            </a:pPr>
            <a:r>
              <a:t>CUIDARTE+ / ASEGURAMIENTO DE CALIDAD</a:t>
            </a:r>
          </a:p>
        </p:txBody>
      </p:sp>
      <p:sp>
        <p:nvSpPr>
          <p:cNvPr id="4" name="TextBox 3"/>
          <p:cNvSpPr txBox="1"/>
          <p:nvPr/>
        </p:nvSpPr>
        <p:spPr>
          <a:xfrm>
            <a:off x="731520" y="1051560"/>
            <a:ext cx="10789920" cy="777240"/>
          </a:xfrm>
          <a:prstGeom prst="rect">
            <a:avLst/>
          </a:prstGeom>
          <a:noFill/>
        </p:spPr>
        <p:txBody>
          <a:bodyPr wrap="square" lIns="0" rIns="0">
            <a:spAutoFit/>
          </a:bodyPr>
          <a:lstStyle/>
          <a:p>
            <a:pPr>
              <a:spcAft>
                <a:spcPts val="1000"/>
              </a:spcAft>
              <a:defRPr sz="3400" b="1">
                <a:solidFill>
                  <a:srgbClr val="F3F7FA"/>
                </a:solidFill>
                <a:latin typeface="Aptos"/>
              </a:defRPr>
            </a:pPr>
            <a:r>
              <a:t>Recomendaciones con evidencia</a:t>
            </a:r>
          </a:p>
        </p:txBody>
      </p:sp>
      <p:sp>
        <p:nvSpPr>
          <p:cNvPr id="5" name="TextBox 4"/>
          <p:cNvSpPr txBox="1"/>
          <p:nvPr/>
        </p:nvSpPr>
        <p:spPr>
          <a:xfrm>
            <a:off x="731520" y="1874519"/>
            <a:ext cx="10515600" cy="457200"/>
          </a:xfrm>
          <a:prstGeom prst="rect">
            <a:avLst/>
          </a:prstGeom>
          <a:noFill/>
        </p:spPr>
        <p:txBody>
          <a:bodyPr wrap="square" lIns="0" rIns="0">
            <a:spAutoFit/>
          </a:bodyPr>
          <a:lstStyle/>
          <a:p>
            <a:pPr>
              <a:spcAft>
                <a:spcPts val="1000"/>
              </a:spcAft>
              <a:defRPr sz="1700" b="0">
                <a:solidFill>
                  <a:srgbClr val="A8C1CF"/>
                </a:solidFill>
                <a:latin typeface="Aptos"/>
              </a:defRPr>
            </a:pPr>
            <a:r>
              <a:t>IE10 · Corregir y volver a comprobar</a:t>
            </a:r>
          </a:p>
        </p:txBody>
      </p:sp>
      <p:sp>
        <p:nvSpPr>
          <p:cNvPr id="6" name="Rectangle 5"/>
          <p:cNvSpPr/>
          <p:nvPr/>
        </p:nvSpPr>
        <p:spPr>
          <a:xfrm>
            <a:off x="777240" y="2807208"/>
            <a:ext cx="82296" cy="82296"/>
          </a:xfrm>
          <a:prstGeom prst="rect">
            <a:avLst/>
          </a:prstGeom>
          <a:solidFill>
            <a:srgbClr val="40D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24128" y="2697480"/>
            <a:ext cx="10241280" cy="594360"/>
          </a:xfrm>
          <a:prstGeom prst="rect">
            <a:avLst/>
          </a:prstGeom>
          <a:noFill/>
        </p:spPr>
        <p:txBody>
          <a:bodyPr wrap="square" lIns="0" rIns="0">
            <a:spAutoFit/>
          </a:bodyPr>
          <a:lstStyle/>
          <a:p>
            <a:pPr>
              <a:spcAft>
                <a:spcPts val="1000"/>
              </a:spcAft>
              <a:defRPr sz="2100" b="0">
                <a:solidFill>
                  <a:srgbClr val="F3F7FA"/>
                </a:solidFill>
                <a:latin typeface="Aptos"/>
              </a:defRPr>
            </a:pPr>
            <a:r>
              <a:t>1. Autorizar antes de mutar; cambios de rol solo por administrador</a:t>
            </a:r>
          </a:p>
        </p:txBody>
      </p:sp>
      <p:sp>
        <p:nvSpPr>
          <p:cNvPr id="8" name="Rectangle 7"/>
          <p:cNvSpPr/>
          <p:nvPr/>
        </p:nvSpPr>
        <p:spPr>
          <a:xfrm>
            <a:off x="777240" y="3465576"/>
            <a:ext cx="82296" cy="82296"/>
          </a:xfrm>
          <a:prstGeom prst="rect">
            <a:avLst/>
          </a:prstGeom>
          <a:solidFill>
            <a:srgbClr val="40D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3355848"/>
            <a:ext cx="10241280" cy="594360"/>
          </a:xfrm>
          <a:prstGeom prst="rect">
            <a:avLst/>
          </a:prstGeom>
          <a:noFill/>
        </p:spPr>
        <p:txBody>
          <a:bodyPr wrap="square" lIns="0" rIns="0">
            <a:spAutoFit/>
          </a:bodyPr>
          <a:lstStyle/>
          <a:p>
            <a:pPr>
              <a:spcAft>
                <a:spcPts val="1000"/>
              </a:spcAft>
              <a:defRPr sz="2100" b="0">
                <a:solidFill>
                  <a:srgbClr val="F3F7FA"/>
                </a:solidFill>
                <a:latin typeface="Aptos"/>
              </a:defRPr>
            </a:pPr>
            <a:r>
              <a:t>2. Hash adaptativo, soft delete y auditoría transaccional</a:t>
            </a:r>
          </a:p>
        </p:txBody>
      </p:sp>
      <p:sp>
        <p:nvSpPr>
          <p:cNvPr id="10" name="Rectangle 9"/>
          <p:cNvSpPr/>
          <p:nvPr/>
        </p:nvSpPr>
        <p:spPr>
          <a:xfrm>
            <a:off x="777240" y="4123944"/>
            <a:ext cx="82296" cy="82296"/>
          </a:xfrm>
          <a:prstGeom prst="rect">
            <a:avLst/>
          </a:prstGeom>
          <a:solidFill>
            <a:srgbClr val="40D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4128" y="4014216"/>
            <a:ext cx="10241280" cy="594360"/>
          </a:xfrm>
          <a:prstGeom prst="rect">
            <a:avLst/>
          </a:prstGeom>
          <a:noFill/>
        </p:spPr>
        <p:txBody>
          <a:bodyPr wrap="square" lIns="0" rIns="0">
            <a:spAutoFit/>
          </a:bodyPr>
          <a:lstStyle/>
          <a:p>
            <a:pPr>
              <a:spcAft>
                <a:spcPts val="1000"/>
              </a:spcAft>
              <a:defRPr sz="2100" b="0">
                <a:solidFill>
                  <a:srgbClr val="F3F7FA"/>
                </a:solidFill>
                <a:latin typeface="Aptos"/>
              </a:defRPr>
            </a:pPr>
            <a:r>
              <a:t>3. Retirar demoras y ejecutar retest + regresión</a:t>
            </a:r>
          </a:p>
        </p:txBody>
      </p:sp>
      <p:sp>
        <p:nvSpPr>
          <p:cNvPr id="12" name="Rectangle 11"/>
          <p:cNvSpPr/>
          <p:nvPr/>
        </p:nvSpPr>
        <p:spPr>
          <a:xfrm>
            <a:off x="777240" y="4782312"/>
            <a:ext cx="82296" cy="82296"/>
          </a:xfrm>
          <a:prstGeom prst="rect">
            <a:avLst/>
          </a:prstGeom>
          <a:solidFill>
            <a:srgbClr val="40D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24128" y="4672584"/>
            <a:ext cx="10241280" cy="594360"/>
          </a:xfrm>
          <a:prstGeom prst="rect">
            <a:avLst/>
          </a:prstGeom>
          <a:noFill/>
        </p:spPr>
        <p:txBody>
          <a:bodyPr wrap="square" lIns="0" rIns="0">
            <a:spAutoFit/>
          </a:bodyPr>
          <a:lstStyle/>
          <a:p>
            <a:pPr>
              <a:spcAft>
                <a:spcPts val="1000"/>
              </a:spcAft>
              <a:defRPr sz="2100" b="0">
                <a:solidFill>
                  <a:srgbClr val="F3F7FA"/>
                </a:solidFill>
                <a:latin typeface="Aptos"/>
              </a:defRPr>
            </a:pPr>
            <a:r>
              <a:t>4. Completar ERS, cobertura, DAST, WCAG y carga sostenida</a:t>
            </a:r>
          </a:p>
        </p:txBody>
      </p:sp>
      <p:sp>
        <p:nvSpPr>
          <p:cNvPr id="14" name="Rectangle 13"/>
          <p:cNvSpPr/>
          <p:nvPr/>
        </p:nvSpPr>
        <p:spPr>
          <a:xfrm>
            <a:off x="731520" y="6236208"/>
            <a:ext cx="10698480" cy="13716"/>
          </a:xfrm>
          <a:prstGeom prst="rect">
            <a:avLst/>
          </a:prstGeom>
          <a:solidFill>
            <a:srgbClr val="294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6382512"/>
            <a:ext cx="9144000" cy="228600"/>
          </a:xfrm>
          <a:prstGeom prst="rect">
            <a:avLst/>
          </a:prstGeom>
          <a:noFill/>
        </p:spPr>
        <p:txBody>
          <a:bodyPr wrap="square" lIns="0" rIns="0">
            <a:spAutoFit/>
          </a:bodyPr>
          <a:lstStyle/>
          <a:p>
            <a:pPr>
              <a:spcAft>
                <a:spcPts val="1000"/>
              </a:spcAft>
              <a:defRPr sz="1000" b="0">
                <a:solidFill>
                  <a:srgbClr val="A8C1CF"/>
                </a:solidFill>
                <a:latin typeface="Aptos"/>
              </a:defRPr>
            </a:pPr>
            <a:r>
              <a:t>ISY1102 · Duoc UC · 20 de octubre de 2026</a:t>
            </a:r>
          </a:p>
        </p:txBody>
      </p:sp>
      <p:sp>
        <p:nvSpPr>
          <p:cNvPr id="16" name="TextBox 15"/>
          <p:cNvSpPr txBox="1"/>
          <p:nvPr/>
        </p:nvSpPr>
        <p:spPr>
          <a:xfrm>
            <a:off x="10515600" y="6345936"/>
            <a:ext cx="914400" cy="274320"/>
          </a:xfrm>
          <a:prstGeom prst="rect">
            <a:avLst/>
          </a:prstGeom>
          <a:noFill/>
        </p:spPr>
        <p:txBody>
          <a:bodyPr wrap="square" lIns="0" rIns="0">
            <a:spAutoFit/>
          </a:bodyPr>
          <a:lstStyle/>
          <a:p>
            <a:pPr>
              <a:spcAft>
                <a:spcPts val="1000"/>
              </a:spcAft>
              <a:defRPr sz="1100" b="0">
                <a:solidFill>
                  <a:srgbClr val="40D9B1"/>
                </a:solidFill>
                <a:latin typeface="Aptos"/>
              </a:defRPr>
            </a:pPr>
            <a:r>
              <a:t>11 /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E2D"/>
        </a:solidFill>
        <a:effectLst/>
      </p:bgPr>
    </p:bg>
    <p:spTree>
      <p:nvGrpSpPr>
        <p:cNvPr id="1" name=""/>
        <p:cNvGrpSpPr/>
        <p:nvPr/>
      </p:nvGrpSpPr>
      <p:grpSpPr/>
      <p:sp>
        <p:nvSpPr>
          <p:cNvPr id="2" name="Rectangle 1"/>
          <p:cNvSpPr/>
          <p:nvPr/>
        </p:nvSpPr>
        <p:spPr>
          <a:xfrm>
            <a:off x="502920" y="475488"/>
            <a:ext cx="118872" cy="365760"/>
          </a:xfrm>
          <a:prstGeom prst="rect">
            <a:avLst/>
          </a:prstGeom>
          <a:solidFill>
            <a:srgbClr val="40D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12064"/>
            <a:ext cx="10058400" cy="274320"/>
          </a:xfrm>
          <a:prstGeom prst="rect">
            <a:avLst/>
          </a:prstGeom>
          <a:noFill/>
        </p:spPr>
        <p:txBody>
          <a:bodyPr wrap="square" lIns="0" rIns="0">
            <a:spAutoFit/>
          </a:bodyPr>
          <a:lstStyle/>
          <a:p>
            <a:pPr>
              <a:spcAft>
                <a:spcPts val="1000"/>
              </a:spcAft>
              <a:defRPr sz="1200" b="1">
                <a:solidFill>
                  <a:srgbClr val="40D9B1"/>
                </a:solidFill>
                <a:latin typeface="Aptos"/>
              </a:defRPr>
            </a:pPr>
            <a:r>
              <a:t>CUIDARTE+ / ASEGURAMIENTO DE CALIDAD</a:t>
            </a:r>
          </a:p>
        </p:txBody>
      </p:sp>
      <p:sp>
        <p:nvSpPr>
          <p:cNvPr id="4" name="TextBox 3"/>
          <p:cNvSpPr txBox="1"/>
          <p:nvPr/>
        </p:nvSpPr>
        <p:spPr>
          <a:xfrm>
            <a:off x="731520" y="1051560"/>
            <a:ext cx="10789920" cy="777240"/>
          </a:xfrm>
          <a:prstGeom prst="rect">
            <a:avLst/>
          </a:prstGeom>
          <a:noFill/>
        </p:spPr>
        <p:txBody>
          <a:bodyPr wrap="square" lIns="0" rIns="0">
            <a:spAutoFit/>
          </a:bodyPr>
          <a:lstStyle/>
          <a:p>
            <a:pPr>
              <a:spcAft>
                <a:spcPts val="1000"/>
              </a:spcAft>
              <a:defRPr sz="3400" b="1">
                <a:solidFill>
                  <a:srgbClr val="F3F7FA"/>
                </a:solidFill>
                <a:latin typeface="Aptos"/>
              </a:defRPr>
            </a:pPr>
            <a:r>
              <a:t>Dictamen: NO CERTIFICADO</a:t>
            </a:r>
          </a:p>
        </p:txBody>
      </p:sp>
      <p:sp>
        <p:nvSpPr>
          <p:cNvPr id="5" name="TextBox 4"/>
          <p:cNvSpPr txBox="1"/>
          <p:nvPr/>
        </p:nvSpPr>
        <p:spPr>
          <a:xfrm>
            <a:off x="731520" y="1874519"/>
            <a:ext cx="10515600" cy="457200"/>
          </a:xfrm>
          <a:prstGeom prst="rect">
            <a:avLst/>
          </a:prstGeom>
          <a:noFill/>
        </p:spPr>
        <p:txBody>
          <a:bodyPr wrap="square" lIns="0" rIns="0">
            <a:spAutoFit/>
          </a:bodyPr>
          <a:lstStyle/>
          <a:p>
            <a:pPr>
              <a:spcAft>
                <a:spcPts val="1000"/>
              </a:spcAft>
              <a:defRPr sz="1700" b="0">
                <a:solidFill>
                  <a:srgbClr val="A8C1CF"/>
                </a:solidFill>
                <a:latin typeface="Aptos"/>
              </a:defRPr>
            </a:pPr>
            <a:r>
              <a:t>La evidencia no cumple los criterios de salida</a:t>
            </a:r>
          </a:p>
        </p:txBody>
      </p:sp>
      <p:sp>
        <p:nvSpPr>
          <p:cNvPr id="6" name="Rectangle 5"/>
          <p:cNvSpPr/>
          <p:nvPr/>
        </p:nvSpPr>
        <p:spPr>
          <a:xfrm>
            <a:off x="777240" y="2807208"/>
            <a:ext cx="82296" cy="82296"/>
          </a:xfrm>
          <a:prstGeom prst="rect">
            <a:avLst/>
          </a:prstGeom>
          <a:solidFill>
            <a:srgbClr val="40D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24128" y="2697480"/>
            <a:ext cx="10241280" cy="594360"/>
          </a:xfrm>
          <a:prstGeom prst="rect">
            <a:avLst/>
          </a:prstGeom>
          <a:noFill/>
        </p:spPr>
        <p:txBody>
          <a:bodyPr wrap="square" lIns="0" rIns="0">
            <a:spAutoFit/>
          </a:bodyPr>
          <a:lstStyle/>
          <a:p>
            <a:pPr>
              <a:spcAft>
                <a:spcPts val="1000"/>
              </a:spcAft>
              <a:defRPr sz="2100" b="0">
                <a:solidFill>
                  <a:srgbClr val="F3F7FA"/>
                </a:solidFill>
                <a:latin typeface="Aptos"/>
              </a:defRPr>
            </a:pPr>
            <a:r>
              <a:t>2 defectos críticos y 4 graves abiertos</a:t>
            </a:r>
          </a:p>
        </p:txBody>
      </p:sp>
      <p:sp>
        <p:nvSpPr>
          <p:cNvPr id="8" name="Rectangle 7"/>
          <p:cNvSpPr/>
          <p:nvPr/>
        </p:nvSpPr>
        <p:spPr>
          <a:xfrm>
            <a:off x="777240" y="3465576"/>
            <a:ext cx="82296" cy="82296"/>
          </a:xfrm>
          <a:prstGeom prst="rect">
            <a:avLst/>
          </a:prstGeom>
          <a:solidFill>
            <a:srgbClr val="40D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3355848"/>
            <a:ext cx="10241280" cy="594360"/>
          </a:xfrm>
          <a:prstGeom prst="rect">
            <a:avLst/>
          </a:prstGeom>
          <a:noFill/>
        </p:spPr>
        <p:txBody>
          <a:bodyPr wrap="square" lIns="0" rIns="0">
            <a:spAutoFit/>
          </a:bodyPr>
          <a:lstStyle/>
          <a:p>
            <a:pPr>
              <a:spcAft>
                <a:spcPts val="1000"/>
              </a:spcAft>
              <a:defRPr sz="2100" b="0">
                <a:solidFill>
                  <a:srgbClr val="F3F7FA"/>
                </a:solidFill>
                <a:latin typeface="Aptos"/>
              </a:defRPr>
            </a:pPr>
            <a:r>
              <a:t>Reevaluar después de remediar, retestar y completar el alcance</a:t>
            </a:r>
          </a:p>
        </p:txBody>
      </p:sp>
      <p:sp>
        <p:nvSpPr>
          <p:cNvPr id="10" name="Rectangle 9"/>
          <p:cNvSpPr/>
          <p:nvPr/>
        </p:nvSpPr>
        <p:spPr>
          <a:xfrm>
            <a:off x="777240" y="4123944"/>
            <a:ext cx="82296" cy="82296"/>
          </a:xfrm>
          <a:prstGeom prst="rect">
            <a:avLst/>
          </a:prstGeom>
          <a:solidFill>
            <a:srgbClr val="40D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4128" y="4014216"/>
            <a:ext cx="10241280" cy="594360"/>
          </a:xfrm>
          <a:prstGeom prst="rect">
            <a:avLst/>
          </a:prstGeom>
          <a:noFill/>
        </p:spPr>
        <p:txBody>
          <a:bodyPr wrap="square" lIns="0" rIns="0">
            <a:spAutoFit/>
          </a:bodyPr>
          <a:lstStyle/>
          <a:p>
            <a:pPr>
              <a:spcAft>
                <a:spcPts val="1000"/>
              </a:spcAft>
              <a:defRPr sz="2100" b="0">
                <a:solidFill>
                  <a:srgbClr val="F3F7FA"/>
                </a:solidFill>
                <a:latin typeface="Aptos"/>
              </a:defRPr>
            </a:pPr>
            <a:r>
              <a:t>Expediente: informe oficial, actividades, evidencias y código</a:t>
            </a:r>
          </a:p>
        </p:txBody>
      </p:sp>
      <p:sp>
        <p:nvSpPr>
          <p:cNvPr id="12" name="Rectangle 11"/>
          <p:cNvSpPr/>
          <p:nvPr/>
        </p:nvSpPr>
        <p:spPr>
          <a:xfrm>
            <a:off x="777240" y="4782312"/>
            <a:ext cx="82296" cy="82296"/>
          </a:xfrm>
          <a:prstGeom prst="rect">
            <a:avLst/>
          </a:prstGeom>
          <a:solidFill>
            <a:srgbClr val="40D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24128" y="4672584"/>
            <a:ext cx="10241280" cy="594360"/>
          </a:xfrm>
          <a:prstGeom prst="rect">
            <a:avLst/>
          </a:prstGeom>
          <a:noFill/>
        </p:spPr>
        <p:txBody>
          <a:bodyPr wrap="square" lIns="0" rIns="0">
            <a:spAutoFit/>
          </a:bodyPr>
          <a:lstStyle/>
          <a:p>
            <a:pPr>
              <a:spcAft>
                <a:spcPts val="1000"/>
              </a:spcAft>
              <a:defRPr sz="2100" b="0">
                <a:solidFill>
                  <a:srgbClr val="F3F7FA"/>
                </a:solidFill>
                <a:latin typeface="Aptos"/>
              </a:defRPr>
            </a:pPr>
            <a:r>
              <a:t>Defensa individual: comprender cada dato y cada limitación</a:t>
            </a:r>
          </a:p>
        </p:txBody>
      </p:sp>
      <p:sp>
        <p:nvSpPr>
          <p:cNvPr id="14" name="Rectangle 13"/>
          <p:cNvSpPr/>
          <p:nvPr/>
        </p:nvSpPr>
        <p:spPr>
          <a:xfrm>
            <a:off x="731520" y="6236208"/>
            <a:ext cx="10698480" cy="13716"/>
          </a:xfrm>
          <a:prstGeom prst="rect">
            <a:avLst/>
          </a:prstGeom>
          <a:solidFill>
            <a:srgbClr val="294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6382512"/>
            <a:ext cx="9144000" cy="228600"/>
          </a:xfrm>
          <a:prstGeom prst="rect">
            <a:avLst/>
          </a:prstGeom>
          <a:noFill/>
        </p:spPr>
        <p:txBody>
          <a:bodyPr wrap="square" lIns="0" rIns="0">
            <a:spAutoFit/>
          </a:bodyPr>
          <a:lstStyle/>
          <a:p>
            <a:pPr>
              <a:spcAft>
                <a:spcPts val="1000"/>
              </a:spcAft>
              <a:defRPr sz="1000" b="0">
                <a:solidFill>
                  <a:srgbClr val="A8C1CF"/>
                </a:solidFill>
                <a:latin typeface="Aptos"/>
              </a:defRPr>
            </a:pPr>
            <a:r>
              <a:t>ISY1102 · Duoc UC · 20 de octubre de 2026</a:t>
            </a:r>
          </a:p>
        </p:txBody>
      </p:sp>
      <p:sp>
        <p:nvSpPr>
          <p:cNvPr id="16" name="TextBox 15"/>
          <p:cNvSpPr txBox="1"/>
          <p:nvPr/>
        </p:nvSpPr>
        <p:spPr>
          <a:xfrm>
            <a:off x="10515600" y="6345936"/>
            <a:ext cx="914400" cy="274320"/>
          </a:xfrm>
          <a:prstGeom prst="rect">
            <a:avLst/>
          </a:prstGeom>
          <a:noFill/>
        </p:spPr>
        <p:txBody>
          <a:bodyPr wrap="square" lIns="0" rIns="0">
            <a:spAutoFit/>
          </a:bodyPr>
          <a:lstStyle/>
          <a:p>
            <a:pPr>
              <a:spcAft>
                <a:spcPts val="1000"/>
              </a:spcAft>
              <a:defRPr sz="1100" b="0">
                <a:solidFill>
                  <a:srgbClr val="40D9B1"/>
                </a:solidFill>
                <a:latin typeface="Aptos"/>
              </a:defRPr>
            </a:pPr>
            <a:r>
              <a:t>12 /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